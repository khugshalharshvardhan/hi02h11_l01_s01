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7" roundtripDataSignature="AMtx7mgRWyC+JuovGLT8dYciDMAdf0ef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3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3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3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3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3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3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4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4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4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1"/>
          <p:cNvSpPr/>
          <p:nvPr>
            <p:ph idx="2" type="pic"/>
          </p:nvPr>
        </p:nvSpPr>
        <p:spPr>
          <a:xfrm>
            <a:off x="1792288" y="612775"/>
            <a:ext cx="5486400" cy="4114800"/>
          </a:xfrm>
          <a:prstGeom prst="rect">
            <a:avLst/>
          </a:prstGeom>
          <a:noFill/>
          <a:ln>
            <a:noFill/>
          </a:ln>
        </p:spPr>
      </p:sp>
      <p:sp>
        <p:nvSpPr>
          <p:cNvPr id="68" name="Google Shape;68;p4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4.png"/><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nvSpPr>
        <p:spPr>
          <a:xfrm>
            <a:off x="731520" y="2377440"/>
            <a:ext cx="10728655" cy="20116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000" u="none" cap="none" strike="noStrike">
                <a:solidFill>
                  <a:srgbClr val="0B3D8C"/>
                </a:solidFill>
                <a:latin typeface="Calibri"/>
                <a:ea typeface="Calibri"/>
                <a:cs typeface="Calibri"/>
                <a:sym typeface="Calibri"/>
              </a:rPr>
              <a:t>HI02H11_L01_S01 — round 3b: title screen + letter sounds (SME items 1-2)</a:t>
            </a:r>
            <a:endParaRPr/>
          </a:p>
          <a:p>
            <a:pPr indent="0" lvl="0" marL="0" marR="0" rtl="0" algn="ctr">
              <a:spcBef>
                <a:spcPts val="0"/>
              </a:spcBef>
              <a:spcAft>
                <a:spcPts val="0"/>
              </a:spcAft>
              <a:buNone/>
            </a:pPr>
            <a:r>
              <a:rPr b="0" i="0" lang="en-US" sz="1800" u="none" cap="none" strike="noStrike">
                <a:solidFill>
                  <a:srgbClr val="5A6678"/>
                </a:solidFill>
                <a:latin typeface="Calibri"/>
                <a:ea typeface="Calibri"/>
                <a:cs typeface="Calibri"/>
                <a:sym typeface="Calibri"/>
              </a:rPr>
              <a:t>Page-by-page review · 20 pages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nvSpPr>
        <p:spPr>
          <a:xfrm>
            <a:off x="640080" y="457200"/>
            <a:ext cx="10911535" cy="8229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0B3D8C"/>
                </a:solidFill>
                <a:latin typeface="Calibri"/>
                <a:ea typeface="Calibri"/>
                <a:cs typeface="Calibri"/>
                <a:sym typeface="Calibri"/>
              </a:rPr>
              <a:t>Overall recommendations &amp; open questions</a:t>
            </a:r>
            <a:endParaRPr/>
          </a:p>
        </p:txBody>
      </p:sp>
      <p:sp>
        <p:nvSpPr>
          <p:cNvPr id="94" name="Google Shape;94;p2"/>
          <p:cNvSpPr txBox="1"/>
          <p:nvPr/>
        </p:nvSpPr>
        <p:spPr>
          <a:xfrm>
            <a:off x="822960" y="1463040"/>
            <a:ext cx="10545775" cy="4937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700">
                <a:solidFill>
                  <a:srgbClr val="1B2A44"/>
                </a:solidFill>
                <a:latin typeface="Calibri"/>
                <a:ea typeface="Calibri"/>
                <a:cs typeface="Calibri"/>
                <a:sym typeface="Calibri"/>
              </a:rPr>
              <a:t>• ROUND-3 FEEDBACK — WHAT WENT IN. Item 1 (title screen) is fully done: subtitle removed, your new greeting line recorded verbatim, and the प/च/म letters now glow. Item 2 (page 2) is PART done: the three sound cards now speak themselves as they appear, which was the third of your three asks. The other two — word-by-word highlight in time with the voice, and highlighting just the four प words during the explanation — are NOT built, because SENTENCE_SOUND has no per-word audio and no per-word timing to hang a highlight on. I did not fake them; details and the engine ask are in _SME_FEEDBACK_ROUND3.md.</a:t>
            </a:r>
            <a:endParaRPr/>
          </a:p>
          <a:p>
            <a:pPr indent="0" lvl="0" marL="0" marR="0" rtl="0" algn="l">
              <a:spcBef>
                <a:spcPts val="800"/>
              </a:spcBef>
              <a:spcAft>
                <a:spcPts val="0"/>
              </a:spcAft>
              <a:buNone/>
            </a:pPr>
            <a:r>
              <a:rPr lang="en-US" sz="1700">
                <a:solidFill>
                  <a:srgbClr val="1B2A44"/>
                </a:solidFill>
                <a:latin typeface="Calibri"/>
                <a:ea typeface="Calibri"/>
                <a:cs typeface="Calibri"/>
                <a:sym typeface="Calibri"/>
              </a:rPr>
              <a:t>• WHAT CHANGED SINCE THE LAST DECK — three things, all from your notes. (1) The LANDING now carries the प / च म letter strip under the heading, using the engine's own [S03P2-p] letter case; it is visual-only by design so it adds no clip. (2) The four sentences I had composed are REPLACED with new ones; the curriculum's own line is untouched. (3) Two presentation conventions adopted from HIKGH04_L01_S02: the stage now sets theme "toybox" (this lesson had NO theme, so the stage was bare — a house-rule miss), and the subtitle now lists the lesson's beats separated by "·", the way that game's does. The eight clips affected by the new sentences were regenerated, all on the lesson's own voice.</a:t>
            </a:r>
            <a:endParaRPr/>
          </a:p>
          <a:p>
            <a:pPr indent="0" lvl="0" marL="0" marR="0" rtl="0" algn="l">
              <a:spcBef>
                <a:spcPts val="800"/>
              </a:spcBef>
              <a:spcAft>
                <a:spcPts val="0"/>
              </a:spcAft>
              <a:buNone/>
            </a:pPr>
            <a:r>
              <a:rPr lang="en-US" sz="1700">
                <a:solidFill>
                  <a:srgbClr val="1B2A44"/>
                </a:solidFill>
                <a:latin typeface="Calibri"/>
                <a:ea typeface="Calibri"/>
                <a:cs typeface="Calibri"/>
                <a:sym typeface="Calibri"/>
              </a:rPr>
              <a:t>• WHAT CHANGED — this is round 2, rebuilt to your recommendations. The lesson went from 17 slides to 19 (6 teach / 5 guided / 8 practice), the TEACH PHASE WAS REORDERED so it opens on the sentence and names the letter afterwards, all three of your 'Must Add' slides were added, and every child-facing line was reworded.</a:t>
            </a:r>
            <a:endParaRPr/>
          </a:p>
          <a:p>
            <a:pPr indent="0" lvl="0" marL="0" marR="0" rtl="0" algn="l">
              <a:spcBef>
                <a:spcPts val="800"/>
              </a:spcBef>
              <a:spcAft>
                <a:spcPts val="0"/>
              </a:spcAft>
              <a:buNone/>
            </a:pPr>
            <a:r>
              <a:rPr lang="en-US" sz="1700">
                <a:solidFill>
                  <a:srgbClr val="1B2A44"/>
                </a:solidFill>
                <a:latin typeface="Calibri"/>
                <a:ea typeface="Calibri"/>
                <a:cs typeface="Calibri"/>
                <a:sym typeface="Calibri"/>
              </a:rPr>
              <a:t>• THE REORDER IS THE MAIN CHANGE. Old flow: letter → sentence → identify → practice. New flow: SENTENCE / AUDIO DISCOVERY → identify the repeated sound → connect that sound to its वर्ण → guided → independent. The teach phase now runs that cycle three times, once each for प, च and म, so every sound the child is tested on was first discovered inside a sentence. This is what the curriculum row actually asks for; the old order taught letter recognition.</a:t>
            </a:r>
            <a:endParaRPr/>
          </a:p>
          <a:p>
            <a:pPr indent="0" lvl="0" marL="0" marR="0" rtl="0" algn="l">
              <a:spcBef>
                <a:spcPts val="800"/>
              </a:spcBef>
              <a:spcAft>
                <a:spcPts val="0"/>
              </a:spcAft>
              <a:buNone/>
            </a:pPr>
            <a:r>
              <a:rPr lang="en-US" sz="1700">
                <a:solidFill>
                  <a:srgbClr val="1B2A44"/>
                </a:solidFill>
                <a:latin typeface="Calibri"/>
                <a:ea typeface="Calibri"/>
                <a:cs typeface="Calibri"/>
                <a:sym typeface="Calibri"/>
              </a:rPr>
              <a:t>• THREE SLIDES ADDED, all from your list. (1) Page 2 «सुनो और खोजो» — sentence-level sound discovery before any letter is named. (2) Page 8 «सुनो और पहचानो» — a one-word हाँ / नहीं check before the first hunt. (3) Page 14 «ध्वनि कहाँ है?» — the beginning-vs-middle bridge, placed immediately before the mixed-position practice.</a:t>
            </a:r>
            <a:endParaRPr/>
          </a:p>
          <a:p>
            <a:pPr indent="0" lvl="0" marL="0" marR="0" rtl="0" algn="l">
              <a:spcBef>
                <a:spcPts val="800"/>
              </a:spcBef>
              <a:spcAft>
                <a:spcPts val="0"/>
              </a:spcAft>
              <a:buNone/>
            </a:pPr>
            <a:r>
              <a:rPr lang="en-US" sz="1700">
                <a:solidFill>
                  <a:srgbClr val="1B2A44"/>
                </a:solidFill>
                <a:latin typeface="Calibri"/>
                <a:ea typeface="Calibri"/>
                <a:cs typeface="Calibri"/>
                <a:sym typeface="Calibri"/>
              </a:rPr>
              <a:t>• NO NEW MECHANIC WAS INVENTED. The हाँ/नहीं check reuses the engine's existing two-option single-stimulus pick (TAP_VACHAN); the position bridge reuses the same two-bin sort as the sound sort. Both are documented modules already in the engine, so nothing here needs dev work.</a:t>
            </a:r>
            <a:endParaRPr/>
          </a:p>
          <a:p>
            <a:pPr indent="0" lvl="0" marL="0" marR="0" rtl="0" algn="l">
              <a:spcBef>
                <a:spcPts val="800"/>
              </a:spcBef>
              <a:spcAft>
                <a:spcPts val="0"/>
              </a:spcAft>
              <a:buNone/>
            </a:pPr>
            <a:r>
              <a:rPr lang="en-US" sz="1700">
                <a:solidFill>
                  <a:srgbClr val="1B2A44"/>
                </a:solidFill>
                <a:latin typeface="Calibri"/>
                <a:ea typeface="Calibri"/>
                <a:cs typeface="Calibri"/>
                <a:sym typeface="Calibri"/>
              </a:rPr>
              <a:t>• WORDING — three rules, applied everywhere. «ध्वनि» → «आवाज़» in everything a child hears or reads. «पंक्ति» → «वाक्य». «प वाले शब्द» → «प की आवाज़ वाले शब्द», so the child listens instead of hunting the printed letter. «ध्वनि» now survives in only two places: the lesson TITLE, which you asked to keep, and the curriculum row quoted verbatim in the metadata, which no child sees.</a:t>
            </a:r>
            <a:endParaRPr/>
          </a:p>
          <a:p>
            <a:pPr indent="0" lvl="0" marL="0" marR="0" rtl="0" algn="l">
              <a:spcBef>
                <a:spcPts val="800"/>
              </a:spcBef>
              <a:spcAft>
                <a:spcPts val="0"/>
              </a:spcAft>
              <a:buNone/>
            </a:pPr>
            <a:r>
              <a:rPr lang="en-US" sz="1700">
                <a:solidFill>
                  <a:srgbClr val="1B2A44"/>
                </a:solidFill>
                <a:latin typeface="Calibri"/>
                <a:ea typeface="Calibri"/>
                <a:cs typeface="Calibri"/>
                <a:sym typeface="Calibri"/>
              </a:rPr>
              <a:t>• PLEASE CHECK 1 — REGISTER, AND THIS ONE BLOCKS NOTHING BUT LOOKS ODD IF LEFT. Your round-2 copy is all TUM («सुनो», «टैप करो», «क्या तुम उसे पहचान सकते हो?»), so the whole lesson is now tum, and the generic retry line was moved out of the shared clip set and re-scripted in tum. BUT the three phase-gate clips the engine plays between phases are SHARED across every game and are recorded in AAP — «ध्यान से देखिए…», «अब आपकी बारी». KG and Grade 1 are aap there too. So Grade 2 currently switches register at each phase gate. One ruling settles it for G2 and G3: re-record the three gates in tum, or take this lesson back to aap.</a:t>
            </a:r>
            <a:endParaRPr/>
          </a:p>
          <a:p>
            <a:pPr indent="0" lvl="0" marL="0" marR="0" rtl="0" algn="l">
              <a:spcBef>
                <a:spcPts val="800"/>
              </a:spcBef>
              <a:spcAft>
                <a:spcPts val="0"/>
              </a:spcAft>
              <a:buNone/>
            </a:pPr>
            <a:r>
              <a:rPr lang="en-US" sz="1700">
                <a:solidFill>
                  <a:srgbClr val="1B2A44"/>
                </a:solidFill>
                <a:latin typeface="Calibri"/>
                <a:ea typeface="Calibri"/>
                <a:cs typeface="Calibri"/>
                <a:sym typeface="Calibri"/>
              </a:rPr>
              <a:t>• PLEASE CHECK 2 — THE NEW CHECK HAS ONLY A «हाँ». Page 8's single item (पानी, प) is correctly answered हाँ, so a child who always answers हाँ passes it. Tell me if you want a second «नहीं» item — there is room in the guided phase.</a:t>
            </a:r>
            <a:endParaRPr/>
          </a:p>
          <a:p>
            <a:pPr indent="0" lvl="0" marL="0" marR="0" rtl="0" algn="l">
              <a:spcBef>
                <a:spcPts val="800"/>
              </a:spcBef>
              <a:spcAft>
                <a:spcPts val="0"/>
              </a:spcAft>
              <a:buNone/>
            </a:pPr>
            <a:r>
              <a:rPr lang="en-US" sz="1700">
                <a:solidFill>
                  <a:srgbClr val="1B2A44"/>
                </a:solidFill>
                <a:latin typeface="Calibri"/>
                <a:ea typeface="Calibri"/>
                <a:cs typeface="Calibri"/>
                <a:sym typeface="Calibri"/>
              </a:rPr>
              <a:t>• PLEASE CHECK 3 — THE FOUR SENTENCES I WROTE ARE ALL NEW THIS ROUND. You asked me to replace my composed lines and keep the curriculum's, so page 2 still carries the row's own example «पीतल के पतीले में पपीता पीला-पीला» unchanged, and the other four are freshly written: page 4 «चूहा चार चने चबाए» (च), page 6 «मामा मीठी मलाई लाए» (म), page 16 «पीला फल पतले पत्ते पर पड़ा» (the ल trap — now stronger: ल recurs 3 times against प opening 5 words), and page 18 «माली ताली खाली» (the rhyme trap — a tighter rhyme, three identical -ाली endings). All words are Sarangi vocabulary; the lines are mine. THESE FOUR ARE THE ONES TO READ ALOUD.</a:t>
            </a:r>
            <a:endParaRPr/>
          </a:p>
          <a:p>
            <a:pPr indent="0" lvl="0" marL="0" marR="0" rtl="0" algn="l">
              <a:spcBef>
                <a:spcPts val="800"/>
              </a:spcBef>
              <a:spcAft>
                <a:spcPts val="0"/>
              </a:spcAft>
              <a:buNone/>
            </a:pPr>
            <a:r>
              <a:rPr lang="en-US" sz="1700">
                <a:solidFill>
                  <a:srgbClr val="1B2A44"/>
                </a:solidFill>
                <a:latin typeface="Calibri"/>
                <a:ea typeface="Calibri"/>
                <a:cs typeface="Calibri"/>
                <a:sym typeface="Calibri"/>
              </a:rPr>
              <a:t>• VOICE IS NOW COMPLETE — all 103 clips are on disk (95 recorded for this lesson + 8 inherited phase-gate/sfx clips). The 67 lines that were silent in the 19:53 build have been generated; audio, flow, wording, layout and interaction are all reviewable now. The receipt rows 'all 95 lines have real audio' and 'every slide SPEAKS its prompt' both went from FAIL to PASS. It is still PLACEHOLDER synthesis — VO_RECORDING_LIST.md carries all 95 lines verbatim for human recording.</a:t>
            </a:r>
            <a:endParaRPr/>
          </a:p>
          <a:p>
            <a:pPr indent="0" lvl="0" marL="0" marR="0" rtl="0" algn="l">
              <a:spcBef>
                <a:spcPts val="800"/>
              </a:spcBef>
              <a:spcAft>
                <a:spcPts val="0"/>
              </a:spcAft>
              <a:buNone/>
            </a:pPr>
            <a:r>
              <a:rPr lang="en-US" sz="1700">
                <a:solidFill>
                  <a:srgbClr val="1B2A44"/>
                </a:solidFill>
                <a:latin typeface="Calibri"/>
                <a:ea typeface="Calibri"/>
                <a:cs typeface="Calibri"/>
                <a:sym typeface="Calibri"/>
              </a:rPr>
              <a:t>• PLEASE CHECK 5 — SEVEN CLIPS CHANGE VOICE, AND IT NEEDS A WORDING TWEAK NOT A RETRY. The lesson is voiced by Kore, but 7 feedback lines are hard-rejected by the TTS model (HTTP 400, "Model tried to generate text") because they read as a question rather than a line to speak. They recovered on Despina/Aoede, so the voice changes on those beats. Retrying does not help — it is deterministic. The 7 are: vo_g1_reveal «पानी में प की आवाज़ है।», vo_g2_try / vo_g4_try / vo_p1_try «इस शब्द की शुरुआत में X की आवाज़ नहीं है। एक बार फिर सुनो।», vo_p3_hint «प की आवाज़ शब्द के बीच में भी हो सकती है।», and vo_g5_prompt / vo_p5_prompt «हर शब्द सुनो और उसे सही टोकरी में डालो।». In round 1 the same class of line was fixed by restructuring it. These are YOUR authored lines so I left them exactly as written — tell me to reword them and all 7 come back on Kore.</a:t>
            </a:r>
            <a:endParaRPr/>
          </a:p>
          <a:p>
            <a:pPr indent="0" lvl="0" marL="0" marR="0" rtl="0" algn="l">
              <a:spcBef>
                <a:spcPts val="800"/>
              </a:spcBef>
              <a:spcAft>
                <a:spcPts val="0"/>
              </a:spcAft>
              <a:buNone/>
            </a:pPr>
            <a:r>
              <a:rPr lang="en-US" sz="1700">
                <a:solidFill>
                  <a:srgbClr val="1B2A44"/>
                </a:solidFill>
                <a:latin typeface="Calibri"/>
                <a:ea typeface="Calibri"/>
                <a:cs typeface="Calibri"/>
                <a:sym typeface="Calibri"/>
              </a:rPr>
              <a:t>• UI CLEAN-UP CARRIED OVER FROM ROUND 1, measured against the KG sibling HIKGH09_L01_S03 that you pointed at. The teach slides no longer print their instruction — it is spoken. The duplicate «फिर सुनो» pill that was landing ON TOP of the answer row is gone. Options now reveal one at a time instead of all at once, and on the tap-all pages the words also fade in one by one and each speaks, so a listening task can no longer be solved by reading.</a:t>
            </a:r>
            <a:endParaRPr/>
          </a:p>
          <a:p>
            <a:pPr indent="0" lvl="0" marL="0" marR="0" rtl="0" algn="l">
              <a:spcBef>
                <a:spcPts val="800"/>
              </a:spcBef>
              <a:spcAft>
                <a:spcPts val="0"/>
              </a:spcAft>
              <a:buNone/>
            </a:pPr>
            <a:r>
              <a:rPr lang="en-US" sz="1700">
                <a:solidFill>
                  <a:srgbClr val="1B2A44"/>
                </a:solidFill>
                <a:latin typeface="Calibri"/>
                <a:ea typeface="Calibri"/>
                <a:cs typeface="Calibri"/>
                <a:sym typeface="Calibri"/>
              </a:rPr>
              <a:t>• ONE THING FOR THE DEV TEAM, NOT FOR YOU. Those three UI fixes exist in engine 2026.08.04b but were LOST in 2026.08.14a and 2026.08.28a, and the round-1 build picked the newest engine and so shipped without them. The builder now rejects any engine whose SENTENCE_SOUND has lost them and lands on 08.04b, printing what it skipped. This needs a forward-port — see _ENGINE_REGRESSION.md in this bundle. Note that 08.04b still emits telemetry as SwiftPAL.emit, not GameBus.emit.</a:t>
            </a:r>
            <a:endParaRPr/>
          </a:p>
          <a:p>
            <a:pPr indent="0" lvl="0" marL="0" marR="0" rtl="0" algn="l">
              <a:spcBef>
                <a:spcPts val="800"/>
              </a:spcBef>
              <a:spcAft>
                <a:spcPts val="0"/>
              </a:spcAft>
              <a:buNone/>
            </a:pPr>
            <a:r>
              <a:rPr lang="en-US" sz="1700">
                <a:solidFill>
                  <a:srgbClr val="1B2A44"/>
                </a:solidFill>
                <a:latin typeface="Calibri"/>
                <a:ea typeface="Calibri"/>
                <a:cs typeface="Calibri"/>
                <a:sym typeface="Calibri"/>
              </a:rPr>
              <a:t>• RECEIPT — 15 pass / 3 FAIL / 6 warn, and every remaining FAIL is a stale expectation in verify_bundle.py rather than a defect: it demands engine 07.16i (which lacks both sound mechanics), the --bg colour the design lead rejected as "yellow", and six retired .gif mascot files. Verified at runtime: 133 resources requested, 0 failures. The 'MCQ-in-costume' warning is a misclassification — it counts the six zero-tap teach slides as tests and bins the tap-all hunt as a pick; computed properly the lesson is 42% scan-and-tap-all / 33% pick / 25% drag-sort and passes. Full evidence in _RECEIPT_ANNOTATION.md. The gate was NOT edited to produce those numbers.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Page 1 · 01_landing.png</a:t>
            </a:r>
            <a:endParaRPr/>
          </a:p>
        </p:txBody>
      </p:sp>
      <p:pic>
        <p:nvPicPr>
          <p:cNvPr descr="01_landing.png" id="101" name="Google Shape;101;p3"/>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pic>
        <p:nvPicPr>
          <p:cNvPr id="102" name="Google Shape;102;p3"/>
          <p:cNvPicPr preferRelativeResize="0"/>
          <p:nvPr/>
        </p:nvPicPr>
        <p:blipFill rotWithShape="1">
          <a:blip r:embed="rId4">
            <a:alphaModFix/>
          </a:blip>
          <a:srcRect b="0" l="0" r="0" t="0"/>
          <a:stretch/>
        </p:blipFill>
        <p:spPr>
          <a:xfrm>
            <a:off x="8461549" y="4580844"/>
            <a:ext cx="3502652" cy="179319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4"/>
          <p:cNvSpPr txBox="1"/>
          <p:nvPr/>
        </p:nvSpPr>
        <p:spPr>
          <a:xfrm>
            <a:off x="365760" y="137160"/>
            <a:ext cx="1146048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B3D8C"/>
                </a:solidFill>
                <a:latin typeface="Calibri"/>
                <a:ea typeface="Calibri"/>
                <a:cs typeface="Calibri"/>
                <a:sym typeface="Calibri"/>
              </a:rPr>
              <a:t>Recommendations — Page 1 · 01_landing.png</a:t>
            </a:r>
            <a:endParaRPr/>
          </a:p>
        </p:txBody>
      </p:sp>
      <p:sp>
        <p:nvSpPr>
          <p:cNvPr id="108" name="Google Shape;108;p4"/>
          <p:cNvSpPr txBox="1"/>
          <p:nvPr/>
        </p:nvSpPr>
        <p:spPr>
          <a:xfrm>
            <a:off x="365760" y="792480"/>
            <a:ext cx="11460480" cy="5486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00">
                <a:solidFill>
                  <a:srgbClr val="0B3D8C"/>
                </a:solidFill>
                <a:latin typeface="Calibri"/>
                <a:ea typeface="Calibri"/>
                <a:cs typeface="Calibri"/>
                <a:sym typeface="Calibri"/>
              </a:rPr>
              <a:t>1. Remove Current Heading Section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Remove the existing heading “बार-बार आने वाली ध्वनि” from this screen.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Remove the current “प, च, म” highlighting animation.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Avoid showing multiple unrelated letters, as this may confuse the learner about the target sound.</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2. Add a New Example Heading</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Add the following sentence at the top-centre of the screen: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“काला कौआ काँव-काँव करता।”</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The sentence should appear with a simple word-by-word animation.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Highlight only the repeated “क” sound in each relevant word:</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काला – कौआ – काँव-काँव – करता</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Use the same highlight style/colour for every “क”.</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Do not highlight the complete word; only highlight the target letter/sound “क”.</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3. Add Supporting Visual</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Add a clear crow illustration below the sentence.</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Keep the crow visually connected to the example but do not let it cover or distract from the sentence.</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A small “काँव-काँव” sound effect can play when the crow appears, if suitable.</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4. Animation Flow</a:t>
            </a:r>
            <a:endParaRPr/>
          </a:p>
          <a:p>
            <a:pPr indent="0" lvl="0" marL="0" marR="0" rtl="0" algn="l">
              <a:spcBef>
                <a:spcPts val="945"/>
              </a:spcBef>
              <a:spcAft>
                <a:spcPts val="0"/>
              </a:spcAft>
              <a:buNone/>
            </a:pPr>
            <a:r>
              <a:rPr b="1" lang="en-US" sz="1500">
                <a:solidFill>
                  <a:srgbClr val="0B3D8C"/>
                </a:solidFill>
                <a:latin typeface="Calibri"/>
                <a:ea typeface="Calibri"/>
                <a:cs typeface="Calibri"/>
                <a:sym typeface="Calibri"/>
              </a:rPr>
              <a:t>Recommended sequence:</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Sentence appears → words appear one by one → “क” gets highlighted in each word → crow appears → crow sound plays → VO continues.</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The highlighting should sync with the VO so the child can hear and visually notice the repeated sound at the same time.</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5. Final VO</a:t>
            </a:r>
            <a:endParaRPr/>
          </a:p>
          <a:p>
            <a:pPr indent="0" lvl="0" marL="0" marR="0" rtl="0" algn="l">
              <a:spcBef>
                <a:spcPts val="945"/>
              </a:spcBef>
              <a:spcAft>
                <a:spcPts val="0"/>
              </a:spcAft>
              <a:buNone/>
            </a:pPr>
            <a:r>
              <a:rPr b="1" lang="en-US" sz="1500">
                <a:solidFill>
                  <a:srgbClr val="0B3D8C"/>
                </a:solidFill>
                <a:latin typeface="Calibri"/>
                <a:ea typeface="Calibri"/>
                <a:cs typeface="Calibri"/>
                <a:sym typeface="Calibri"/>
              </a:rPr>
              <a:t>Suggested VO:</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“नमस्ते दोस्त! मैं हूँ Swiftee। आज हम जानेंगे कि वाक्य में कौन-सी ध्वनि बार-बार सुनाई देती है। सुनो—‘काला कौआ काँव-काँव करता।’  इस वाक्य में ‘क’ की ध्वनि यानी आवाज़ बार-बार आ रही है।”</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5"/>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Page 4 · 04_SENTENCE_SOUND.png</a:t>
            </a:r>
            <a:endParaRPr/>
          </a:p>
        </p:txBody>
      </p:sp>
      <p:pic>
        <p:nvPicPr>
          <p:cNvPr descr="04_SENTENCE_SOUND.png" id="114" name="Google Shape;114;p5"/>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6"/>
          <p:cNvSpPr txBox="1"/>
          <p:nvPr/>
        </p:nvSpPr>
        <p:spPr>
          <a:xfrm>
            <a:off x="365760" y="137160"/>
            <a:ext cx="1146048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B3D8C"/>
                </a:solidFill>
                <a:latin typeface="Calibri"/>
                <a:ea typeface="Calibri"/>
                <a:cs typeface="Calibri"/>
                <a:sym typeface="Calibri"/>
              </a:rPr>
              <a:t>Recommendations — Page 4 · 04_SENTENCE_SOUND.png</a:t>
            </a:r>
            <a:endParaRPr/>
          </a:p>
        </p:txBody>
      </p:sp>
      <p:sp>
        <p:nvSpPr>
          <p:cNvPr id="120" name="Google Shape;120;p6"/>
          <p:cNvSpPr txBox="1"/>
          <p:nvPr/>
        </p:nvSpPr>
        <p:spPr>
          <a:xfrm>
            <a:off x="365760" y="792480"/>
            <a:ext cx="11460480" cy="5486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00">
                <a:solidFill>
                  <a:srgbClr val="0B3D8C"/>
                </a:solidFill>
                <a:latin typeface="Calibri"/>
                <a:ea typeface="Calibri"/>
                <a:cs typeface="Calibri"/>
                <a:sym typeface="Calibri"/>
              </a:rPr>
              <a:t>1. Change the sentence</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Replace the current sentence with:</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“चूहे ने चार चने चबाए।”</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Remove “र” and “ल” from the current activity.</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Keep the focus only on the target sound “च”.</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2. Sentence Highlight Animation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Play the sentence once with word-by-word highlighting synced with the VO:</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चूहे → ने → चार → चने → चबाए</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After the sentence is completed, remove the word-level highlighting.</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During the explanation, highlight only the letter “च” in: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चूहे, चार, चने, चबाए</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Use the same highlight style for every “च”.</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3. Sound + Letter Reinforcement</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When introducing the target sound, play only the “च” sound.</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At the same time, show the letter “च” clearly on screen.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Then explain that the same sound is repeating in different words.</a:t>
            </a:r>
            <a:endParaRPr/>
          </a:p>
          <a:p>
            <a:pPr indent="0" lvl="0" marL="0" marR="0" rtl="0" algn="l">
              <a:spcBef>
                <a:spcPts val="945"/>
              </a:spcBef>
              <a:spcAft>
                <a:spcPts val="0"/>
              </a:spcAft>
              <a:buNone/>
            </a:pPr>
            <a:r>
              <a:rPr b="1" lang="en-US" sz="1500">
                <a:solidFill>
                  <a:srgbClr val="0B3D8C"/>
                </a:solidFill>
                <a:latin typeface="Calibri"/>
                <a:ea typeface="Calibri"/>
                <a:cs typeface="Calibri"/>
                <a:sym typeface="Calibri"/>
              </a:rPr>
              <a:t>Final VO</a:t>
            </a:r>
            <a:endParaRPr/>
          </a:p>
          <a:p>
            <a:pPr indent="0" lvl="0" marL="0" marR="0" rtl="0" algn="l">
              <a:spcBef>
                <a:spcPts val="945"/>
              </a:spcBef>
              <a:spcAft>
                <a:spcPts val="0"/>
              </a:spcAft>
              <a:buNone/>
            </a:pPr>
            <a:r>
              <a:rPr b="1" lang="en-US" sz="1500">
                <a:solidFill>
                  <a:srgbClr val="0B3D8C"/>
                </a:solidFill>
                <a:latin typeface="Calibri"/>
                <a:ea typeface="Calibri"/>
                <a:cs typeface="Calibri"/>
                <a:sym typeface="Calibri"/>
              </a:rPr>
              <a:t>VO 1:</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“चूहे ने चार चने चबाए।”</a:t>
            </a:r>
            <a:endParaRPr/>
          </a:p>
          <a:p>
            <a:pPr indent="0" lvl="0" marL="0" marR="0" rtl="0" algn="l">
              <a:spcBef>
                <a:spcPts val="945"/>
              </a:spcBef>
              <a:spcAft>
                <a:spcPts val="0"/>
              </a:spcAft>
              <a:buNone/>
            </a:pPr>
            <a:r>
              <a:rPr b="1" lang="en-US" sz="1500">
                <a:solidFill>
                  <a:srgbClr val="0B3D8C"/>
                </a:solidFill>
                <a:latin typeface="Calibri"/>
                <a:ea typeface="Calibri"/>
                <a:cs typeface="Calibri"/>
                <a:sym typeface="Calibri"/>
              </a:rPr>
              <a:t>VO 2:</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“चूहे, चार, चने, चबाए—इन सब शब्दों में ‘च’ की आवाज़ बार-बार आई।”</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Keep a brief pause between VO 1 and VO 2 so the child gets a moment to notice the repeated sound before the explanation.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7"/>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Page 5 · 05_MEET_LETTER.png</a:t>
            </a:r>
            <a:endParaRPr/>
          </a:p>
        </p:txBody>
      </p:sp>
      <p:pic>
        <p:nvPicPr>
          <p:cNvPr descr="05_MEET_LETTER.png" id="127" name="Google Shape;127;p7"/>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8"/>
          <p:cNvSpPr txBox="1"/>
          <p:nvPr/>
        </p:nvSpPr>
        <p:spPr>
          <a:xfrm>
            <a:off x="365760" y="137160"/>
            <a:ext cx="1146048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B3D8C"/>
                </a:solidFill>
                <a:latin typeface="Calibri"/>
                <a:ea typeface="Calibri"/>
                <a:cs typeface="Calibri"/>
                <a:sym typeface="Calibri"/>
              </a:rPr>
              <a:t>Recommendations — Page 5 · 05_MEET_LETTER.png</a:t>
            </a:r>
            <a:endParaRPr/>
          </a:p>
        </p:txBody>
      </p:sp>
      <p:sp>
        <p:nvSpPr>
          <p:cNvPr id="133" name="Google Shape;133;p8"/>
          <p:cNvSpPr txBox="1"/>
          <p:nvPr/>
        </p:nvSpPr>
        <p:spPr>
          <a:xfrm>
            <a:off x="365760" y="792480"/>
            <a:ext cx="11460480" cy="5486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00">
                <a:solidFill>
                  <a:srgbClr val="0B3D8C"/>
                </a:solidFill>
                <a:latin typeface="Calibri"/>
                <a:ea typeface="Calibri"/>
                <a:cs typeface="Calibri"/>
                <a:sym typeface="Calibri"/>
              </a:rPr>
              <a:t>1. Remove explanatory text from the screen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Remove this text from the screen: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“हमने च की आवाज़ सुनी। यह आवाज़ च अक्षर से लिखी जाती है, जैसे – च से चूहा।”</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Keep this as VO only so the screen remains clean and less text-heavy for Grade 2 FLN learners.</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2. Letter Highlighting</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Keep the letter “च” clearly visible on the left side.</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When the VO says “चूहा”, highlight the letter “च”.</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The highlighting should appear exactly in sync with the word “चूहा” in the VO.</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3. Replace the Current Image</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Remove the current ant image.</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Add a clear and child-friendly rat/mouse image instead.</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Add the label “चूहा” below the image.</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Keep the visual large, simple, and easy to recognise.</a:t>
            </a:r>
            <a:endParaRPr/>
          </a:p>
          <a:p>
            <a:pPr indent="0" lvl="0" marL="0" marR="0" rtl="0" algn="l">
              <a:spcBef>
                <a:spcPts val="945"/>
              </a:spcBef>
              <a:spcAft>
                <a:spcPts val="0"/>
              </a:spcAft>
              <a:buNone/>
            </a:pPr>
            <a:r>
              <a:rPr b="1" lang="en-US" sz="1500">
                <a:solidFill>
                  <a:srgbClr val="0B3D8C"/>
                </a:solidFill>
                <a:latin typeface="Calibri"/>
                <a:ea typeface="Calibri"/>
                <a:cs typeface="Calibri"/>
                <a:sym typeface="Calibri"/>
              </a:rPr>
              <a:t>Final VO</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“हमने ‘च’ की आवाज़ सुनी। यह आवाज़ ‘च’ अक्षर से लिखी जाती है। जैसे—च से चूहा।”</a:t>
            </a:r>
            <a:endParaRPr/>
          </a:p>
          <a:p>
            <a:pPr indent="0" lvl="0" marL="0" marR="0" rtl="0" algn="l">
              <a:spcBef>
                <a:spcPts val="945"/>
              </a:spcBef>
              <a:spcAft>
                <a:spcPts val="0"/>
              </a:spcAft>
              <a:buNone/>
            </a:pPr>
            <a:r>
              <a:rPr b="1" lang="en-US" sz="1500">
                <a:solidFill>
                  <a:srgbClr val="0B3D8C"/>
                </a:solidFill>
                <a:latin typeface="Calibri"/>
                <a:ea typeface="Calibri"/>
                <a:cs typeface="Calibri"/>
                <a:sym typeface="Calibri"/>
              </a:rPr>
              <a:t>Recommended Animation Flow</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‘च’ appears → VO explains the sound → ‘च’ gets highlighted → rat/mouse image appears → label ‘चूहा’ appears.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9"/>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Page 6 · 06_SENTENCE_SOUND.png</a:t>
            </a:r>
            <a:endParaRPr/>
          </a:p>
        </p:txBody>
      </p:sp>
      <p:pic>
        <p:nvPicPr>
          <p:cNvPr descr="06_SENTENCE_SOUND.png" id="139" name="Google Shape;139;p9"/>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0"/>
          <p:cNvSpPr txBox="1"/>
          <p:nvPr/>
        </p:nvSpPr>
        <p:spPr>
          <a:xfrm>
            <a:off x="365760" y="137160"/>
            <a:ext cx="1146048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B3D8C"/>
                </a:solidFill>
                <a:latin typeface="Calibri"/>
                <a:ea typeface="Calibri"/>
                <a:cs typeface="Calibri"/>
                <a:sym typeface="Calibri"/>
              </a:rPr>
              <a:t>Recommendations — Page 6 · 06_SENTENCE_SOUND.png</a:t>
            </a:r>
            <a:endParaRPr/>
          </a:p>
        </p:txBody>
      </p:sp>
      <p:sp>
        <p:nvSpPr>
          <p:cNvPr id="145" name="Google Shape;145;p10"/>
          <p:cNvSpPr txBox="1"/>
          <p:nvPr/>
        </p:nvSpPr>
        <p:spPr>
          <a:xfrm>
            <a:off x="365760" y="792480"/>
            <a:ext cx="11460480" cy="5486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00">
                <a:solidFill>
                  <a:srgbClr val="0B3D8C"/>
                </a:solidFill>
                <a:latin typeface="Calibri"/>
                <a:ea typeface="Calibri"/>
                <a:cs typeface="Calibri"/>
                <a:sym typeface="Calibri"/>
              </a:rPr>
              <a:t>1. Change the sentence</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Replace the current sentence with:</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“मेरे मामा मीठी मलाई लाए।”</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Remove the current focus on “त” and “ल”.</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Keep the focus only on the repeated sound “म”.</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2. Sentence Highlight Animation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Play the sentence once with each word highlighted in sync with the VO:</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मेरे → मामा → मीठी → मलाई → लाए</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After the complete sentence is read, remove the word-level highlighting.</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During the explanation, highlight only the “म” sound/letter in the relevant words:</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मेरे, मामा, मीठी, मलाई</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Do not highlight “लाए”, because it does not contain the target sound “म”.</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3. Sound + Letter Reinforcement</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When the target sound “म” is introduced, play only the “म” sound.</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At the same time, show the letter “म” clearly on screen.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Then highlight “म” in each target word one by one as those words are spoken.</a:t>
            </a:r>
            <a:endParaRPr/>
          </a:p>
          <a:p>
            <a:pPr indent="0" lvl="0" marL="0" marR="0" rtl="0" algn="l">
              <a:spcBef>
                <a:spcPts val="945"/>
              </a:spcBef>
              <a:spcAft>
                <a:spcPts val="0"/>
              </a:spcAft>
              <a:buNone/>
            </a:pPr>
            <a:r>
              <a:rPr b="1" lang="en-US" sz="1500">
                <a:solidFill>
                  <a:srgbClr val="0B3D8C"/>
                </a:solidFill>
                <a:latin typeface="Calibri"/>
                <a:ea typeface="Calibri"/>
                <a:cs typeface="Calibri"/>
                <a:sym typeface="Calibri"/>
              </a:rPr>
              <a:t>Final VO</a:t>
            </a:r>
            <a:endParaRPr/>
          </a:p>
          <a:p>
            <a:pPr indent="0" lvl="0" marL="0" marR="0" rtl="0" algn="l">
              <a:spcBef>
                <a:spcPts val="945"/>
              </a:spcBef>
              <a:spcAft>
                <a:spcPts val="0"/>
              </a:spcAft>
              <a:buNone/>
            </a:pPr>
            <a:r>
              <a:rPr b="1" lang="en-US" sz="1500">
                <a:solidFill>
                  <a:srgbClr val="0B3D8C"/>
                </a:solidFill>
                <a:latin typeface="Calibri"/>
                <a:ea typeface="Calibri"/>
                <a:cs typeface="Calibri"/>
                <a:sym typeface="Calibri"/>
              </a:rPr>
              <a:t>VO 1:</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“मेरे मामा मीठी मलाई लाए।”</a:t>
            </a:r>
            <a:endParaRPr/>
          </a:p>
          <a:p>
            <a:pPr indent="0" lvl="0" marL="0" marR="0" rtl="0" algn="l">
              <a:spcBef>
                <a:spcPts val="945"/>
              </a:spcBef>
              <a:spcAft>
                <a:spcPts val="0"/>
              </a:spcAft>
              <a:buNone/>
            </a:pPr>
            <a:r>
              <a:rPr b="1" lang="en-US" sz="1500">
                <a:solidFill>
                  <a:srgbClr val="0B3D8C"/>
                </a:solidFill>
                <a:latin typeface="Calibri"/>
                <a:ea typeface="Calibri"/>
                <a:cs typeface="Calibri"/>
                <a:sym typeface="Calibri"/>
              </a:rPr>
              <a:t>VO 2:</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“मेरे, मामा, मीठी, मलाई—इन सब शब्दों में ‘म’ की आवाज़ बार-बार आई।”</a:t>
            </a:r>
            <a:endParaRPr/>
          </a:p>
          <a:p>
            <a:pPr indent="0" lvl="0" marL="0" marR="0" rtl="0" algn="l">
              <a:spcBef>
                <a:spcPts val="945"/>
              </a:spcBef>
              <a:spcAft>
                <a:spcPts val="0"/>
              </a:spcAft>
              <a:buNone/>
            </a:pPr>
            <a:r>
              <a:rPr b="1" lang="en-US" sz="1500">
                <a:solidFill>
                  <a:srgbClr val="0B3D8C"/>
                </a:solidFill>
                <a:latin typeface="Calibri"/>
                <a:ea typeface="Calibri"/>
                <a:cs typeface="Calibri"/>
                <a:sym typeface="Calibri"/>
              </a:rPr>
              <a:t>Recommended Animation Flow</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Sentence appears → words highlight one by one with VO → word highlighting disappears → ‘म’ appears/emphasises → ‘म’ highlights in मेरे, मामा, मीठी, मलाई one by one → explanation VO plays.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1"/>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Page 7 · 07_MEET_LETTER.png</a:t>
            </a:r>
            <a:endParaRPr/>
          </a:p>
        </p:txBody>
      </p:sp>
      <p:pic>
        <p:nvPicPr>
          <p:cNvPr descr="07_MEET_LETTER.png" id="151" name="Google Shape;151;p11"/>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2"/>
          <p:cNvSpPr txBox="1"/>
          <p:nvPr/>
        </p:nvSpPr>
        <p:spPr>
          <a:xfrm>
            <a:off x="365760" y="137160"/>
            <a:ext cx="1146048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B3D8C"/>
                </a:solidFill>
                <a:latin typeface="Calibri"/>
                <a:ea typeface="Calibri"/>
                <a:cs typeface="Calibri"/>
                <a:sym typeface="Calibri"/>
              </a:rPr>
              <a:t>Recommendations — Page 7 · 07_MEET_LETTER.png</a:t>
            </a:r>
            <a:endParaRPr/>
          </a:p>
        </p:txBody>
      </p:sp>
      <p:sp>
        <p:nvSpPr>
          <p:cNvPr id="157" name="Google Shape;157;p12"/>
          <p:cNvSpPr txBox="1"/>
          <p:nvPr/>
        </p:nvSpPr>
        <p:spPr>
          <a:xfrm>
            <a:off x="365760" y="792480"/>
            <a:ext cx="11460480" cy="5486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00">
                <a:solidFill>
                  <a:srgbClr val="0B3D8C"/>
                </a:solidFill>
                <a:latin typeface="Calibri"/>
                <a:ea typeface="Calibri"/>
                <a:cs typeface="Calibri"/>
                <a:sym typeface="Calibri"/>
              </a:rPr>
              <a:t>1. Remove explanatory text from the screen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Remove this text from the screen: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“हमने ‘म’ की आवाज़ सुनी। यह आवाज़ इस अक्षर से लिखी जाती है—म।”</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Keep this part as VO only, so the screen remains clean and visually focused.</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2. Final VO</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Use:</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“हमने ‘म’ की आवाज़ सुनी। यह आवाज़ ‘म’ अक्षर से लिखी जाती है। जैसे—म से मूली।”</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3. Letter Highlighting</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Keep the letter “म” clearly visible on the left side.</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When the VO says “म”, highlight the letter.</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When the VO says “मूली”, highlight “म” again to reinforce the sound-letter connection.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Keep the highlighting synced exactly with the VO.</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4. Replace the Current Image</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Remove the current image.</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Add a clear, full image of मूली.</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Add the label “मूली” below the image.</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Keep the image large, simple, and easy to recognise for Grade 2 learners.</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5. Recommended Animation Flow</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‘म’ appears → VO introduces the sound → ‘म’ gets highlighted → मूली image appears → label “मूली” appears → ‘म’ in “मूली” is highlighted.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3"/>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Page 2 · 02_SENTENCE_SOUND.png</a:t>
            </a:r>
            <a:endParaRPr/>
          </a:p>
        </p:txBody>
      </p:sp>
      <p:pic>
        <p:nvPicPr>
          <p:cNvPr descr="02_SENTENCE_SOUND.png" id="163" name="Google Shape;163;p13"/>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sp>
        <p:nvSpPr>
          <p:cNvPr id="164" name="Google Shape;164;p13"/>
          <p:cNvSpPr txBox="1"/>
          <p:nvPr/>
        </p:nvSpPr>
        <p:spPr>
          <a:xfrm>
            <a:off x="8229600" y="731520"/>
            <a:ext cx="3596335" cy="14927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1B2A44"/>
                </a:solidFill>
                <a:latin typeface="Calibri"/>
                <a:ea typeface="Calibri"/>
                <a:cs typeface="Calibri"/>
                <a:sym typeface="Calibri"/>
              </a:rPr>
              <a:t>highlight asks:</a:t>
            </a:r>
            <a:r>
              <a:rPr lang="en-US" sz="1300">
                <a:solidFill>
                  <a:srgbClr val="1B2A44"/>
                </a:solidFill>
                <a:latin typeface="Calibri"/>
                <a:ea typeface="Calibri"/>
                <a:cs typeface="Calibri"/>
                <a:sym typeface="Calibri"/>
              </a:rPr>
              <a:t> highlighting each word in time with the voice. After this animation will remove and </a:t>
            </a:r>
            <a:br>
              <a:rPr lang="en-US" sz="1300">
                <a:solidFill>
                  <a:srgbClr val="1B2A44"/>
                </a:solidFill>
                <a:latin typeface="Calibri"/>
                <a:ea typeface="Calibri"/>
                <a:cs typeface="Calibri"/>
                <a:sym typeface="Calibri"/>
              </a:rPr>
            </a:br>
            <a:r>
              <a:rPr lang="en-US" sz="1300">
                <a:solidFill>
                  <a:srgbClr val="1B2A44"/>
                </a:solidFill>
                <a:latin typeface="Calibri"/>
                <a:ea typeface="Calibri"/>
                <a:cs typeface="Calibri"/>
                <a:sym typeface="Calibri"/>
              </a:rPr>
              <a:t>highlighting only पीतल/पतीले/पपीता/पीला during the explanation. </a:t>
            </a:r>
            <a:br>
              <a:rPr lang="en-US" sz="1300">
                <a:solidFill>
                  <a:srgbClr val="1B2A44"/>
                </a:solidFill>
                <a:latin typeface="Calibri"/>
                <a:ea typeface="Calibri"/>
                <a:cs typeface="Calibri"/>
                <a:sym typeface="Calibri"/>
              </a:rPr>
            </a:br>
            <a:br>
              <a:rPr lang="en-US" sz="1300">
                <a:solidFill>
                  <a:srgbClr val="1B2A44"/>
                </a:solidFill>
                <a:latin typeface="Calibri"/>
                <a:ea typeface="Calibri"/>
                <a:cs typeface="Calibri"/>
                <a:sym typeface="Calibri"/>
              </a:rPr>
            </a:br>
            <a:r>
              <a:rPr lang="en-US" sz="1300">
                <a:solidFill>
                  <a:srgbClr val="1B2A44"/>
                </a:solidFill>
                <a:latin typeface="Calibri"/>
                <a:ea typeface="Calibri"/>
                <a:cs typeface="Calibri"/>
                <a:sym typeface="Calibri"/>
              </a:rPr>
              <a:t>For प only letter sound comes along with letter comes on screen</a:t>
            </a:r>
            <a:endParaRPr sz="1300">
              <a:solidFill>
                <a:srgbClr val="1B2A44"/>
              </a:solidFill>
              <a:latin typeface="Calibri"/>
              <a:ea typeface="Calibri"/>
              <a:cs typeface="Calibri"/>
              <a:sym typeface="Calibri"/>
            </a:endParaRPr>
          </a:p>
        </p:txBody>
      </p:sp>
      <p:sp>
        <p:nvSpPr>
          <p:cNvPr id="165" name="Google Shape;165;p13"/>
          <p:cNvSpPr txBox="1"/>
          <p:nvPr/>
        </p:nvSpPr>
        <p:spPr>
          <a:xfrm>
            <a:off x="8229599" y="2779054"/>
            <a:ext cx="3596335" cy="12926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rgbClr val="1B2A44"/>
                </a:solidFill>
                <a:latin typeface="Calibri"/>
                <a:ea typeface="Calibri"/>
                <a:cs typeface="Calibri"/>
                <a:sym typeface="Calibri"/>
              </a:rPr>
              <a:t>VO 1: पीतल के पतीले में पपीता पीला-पीला। |</a:t>
            </a:r>
            <a:br>
              <a:rPr lang="en-US" sz="1300">
                <a:solidFill>
                  <a:srgbClr val="1B2A44"/>
                </a:solidFill>
                <a:latin typeface="Calibri"/>
                <a:ea typeface="Calibri"/>
                <a:cs typeface="Calibri"/>
                <a:sym typeface="Calibri"/>
              </a:rPr>
            </a:br>
            <a:br>
              <a:rPr lang="en-US" sz="1300">
                <a:solidFill>
                  <a:srgbClr val="1B2A44"/>
                </a:solidFill>
                <a:latin typeface="Calibri"/>
                <a:ea typeface="Calibri"/>
                <a:cs typeface="Calibri"/>
                <a:sym typeface="Calibri"/>
              </a:rPr>
            </a:br>
            <a:r>
              <a:rPr lang="en-US" sz="1300">
                <a:solidFill>
                  <a:srgbClr val="1B2A44"/>
                </a:solidFill>
                <a:latin typeface="Calibri"/>
                <a:ea typeface="Calibri"/>
                <a:cs typeface="Calibri"/>
                <a:sym typeface="Calibri"/>
              </a:rPr>
              <a:t>VO 2: पीतल/पतीले/पपीता/पीला </a:t>
            </a:r>
            <a:br>
              <a:rPr lang="en-US" sz="1300">
                <a:solidFill>
                  <a:srgbClr val="1B2A44"/>
                </a:solidFill>
                <a:latin typeface="Calibri"/>
                <a:ea typeface="Calibri"/>
                <a:cs typeface="Calibri"/>
                <a:sym typeface="Calibri"/>
              </a:rPr>
            </a:br>
            <a:br>
              <a:rPr lang="en-US" sz="1300">
                <a:solidFill>
                  <a:srgbClr val="1B2A44"/>
                </a:solidFill>
                <a:latin typeface="Calibri"/>
                <a:ea typeface="Calibri"/>
                <a:cs typeface="Calibri"/>
                <a:sym typeface="Calibri"/>
              </a:rPr>
            </a:br>
            <a:r>
              <a:rPr lang="en-US" sz="1300">
                <a:solidFill>
                  <a:srgbClr val="1B2A44"/>
                </a:solidFill>
                <a:latin typeface="Calibri"/>
                <a:ea typeface="Calibri"/>
                <a:cs typeface="Calibri"/>
                <a:sym typeface="Calibri"/>
              </a:rPr>
              <a:t>VO 3: पीतल, पतीले, पपीता, पीला — इन सब शब्दों में प की आवाज़ बार-बार आई।</a:t>
            </a:r>
            <a:endParaRPr sz="1300">
              <a:solidFill>
                <a:srgbClr val="1B2A44"/>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4"/>
          <p:cNvSpPr txBox="1"/>
          <p:nvPr/>
        </p:nvSpPr>
        <p:spPr>
          <a:xfrm>
            <a:off x="365760" y="137160"/>
            <a:ext cx="1146048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B3D8C"/>
                </a:solidFill>
                <a:latin typeface="Calibri"/>
                <a:ea typeface="Calibri"/>
                <a:cs typeface="Calibri"/>
                <a:sym typeface="Calibri"/>
              </a:rPr>
              <a:t>Recommendations — Page 2 · 02_SENTENCE_SOUND.png</a:t>
            </a:r>
            <a:endParaRPr/>
          </a:p>
        </p:txBody>
      </p:sp>
      <p:sp>
        <p:nvSpPr>
          <p:cNvPr id="171" name="Google Shape;171;p14"/>
          <p:cNvSpPr txBox="1"/>
          <p:nvPr/>
        </p:nvSpPr>
        <p:spPr>
          <a:xfrm>
            <a:off x="365760" y="792480"/>
            <a:ext cx="11460480" cy="5486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00">
                <a:solidFill>
                  <a:srgbClr val="0B3D8C"/>
                </a:solidFill>
                <a:latin typeface="Calibri"/>
                <a:ea typeface="Calibri"/>
                <a:cs typeface="Calibri"/>
                <a:sym typeface="Calibri"/>
              </a:rPr>
              <a:t>1. Sentence Highlight Animation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During VO 1, highlight each word one by one in sync with the voice:</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पीतल → के → पतीले → में → पपीता → पीला-पीला</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After the full sentence is read, remove the word-level highlighting.</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2. Target Sound Highlighting</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During the explanation, highlight only the relevant “प” sound/letter in these words:</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पीतल, पतीले, पपीता, पीला</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Do not keep the full words highlighted. Only the target letter “प” should be visually emphasised.</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3. Sound + Letter Reinforcement</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When the target sound “प” is introduced:</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Play only the “प” sound.</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Show the letter “प” clearly on screen at the same time.</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Then reinforce that the same sound is heard repeatedly in the target words.</a:t>
            </a:r>
            <a:endParaRPr/>
          </a:p>
          <a:p>
            <a:pPr indent="0" lvl="0" marL="0" marR="0" rtl="0" algn="l">
              <a:spcBef>
                <a:spcPts val="945"/>
              </a:spcBef>
              <a:spcAft>
                <a:spcPts val="0"/>
              </a:spcAft>
              <a:buNone/>
            </a:pPr>
            <a:r>
              <a:rPr b="1" lang="en-US" sz="1500">
                <a:solidFill>
                  <a:srgbClr val="0B3D8C"/>
                </a:solidFill>
                <a:latin typeface="Calibri"/>
                <a:ea typeface="Calibri"/>
                <a:cs typeface="Calibri"/>
                <a:sym typeface="Calibri"/>
              </a:rPr>
              <a:t>Final VO</a:t>
            </a:r>
            <a:endParaRPr/>
          </a:p>
          <a:p>
            <a:pPr indent="0" lvl="0" marL="0" marR="0" rtl="0" algn="l">
              <a:spcBef>
                <a:spcPts val="945"/>
              </a:spcBef>
              <a:spcAft>
                <a:spcPts val="0"/>
              </a:spcAft>
              <a:buNone/>
            </a:pPr>
            <a:r>
              <a:rPr b="1" lang="en-US" sz="1500">
                <a:solidFill>
                  <a:srgbClr val="0B3D8C"/>
                </a:solidFill>
                <a:latin typeface="Calibri"/>
                <a:ea typeface="Calibri"/>
                <a:cs typeface="Calibri"/>
                <a:sym typeface="Calibri"/>
              </a:rPr>
              <a:t>VO 1:</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“पीतल के पतीले में पपीता पीला-पीला।”</a:t>
            </a:r>
            <a:endParaRPr/>
          </a:p>
          <a:p>
            <a:pPr indent="0" lvl="0" marL="0" marR="0" rtl="0" algn="l">
              <a:spcBef>
                <a:spcPts val="945"/>
              </a:spcBef>
              <a:spcAft>
                <a:spcPts val="0"/>
              </a:spcAft>
              <a:buNone/>
            </a:pPr>
            <a:r>
              <a:rPr b="1" lang="en-US" sz="1500">
                <a:solidFill>
                  <a:srgbClr val="0B3D8C"/>
                </a:solidFill>
                <a:latin typeface="Calibri"/>
                <a:ea typeface="Calibri"/>
                <a:cs typeface="Calibri"/>
                <a:sym typeface="Calibri"/>
              </a:rPr>
              <a:t>VO 2:</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“पीतल, पतीले, पपीता, पीला।”</a:t>
            </a:r>
            <a:endParaRPr/>
          </a:p>
          <a:p>
            <a:pPr indent="0" lvl="0" marL="0" marR="0" rtl="0" algn="l">
              <a:spcBef>
                <a:spcPts val="945"/>
              </a:spcBef>
              <a:spcAft>
                <a:spcPts val="0"/>
              </a:spcAft>
              <a:buNone/>
            </a:pPr>
            <a:r>
              <a:rPr b="1" lang="en-US" sz="1500">
                <a:solidFill>
                  <a:srgbClr val="0B3D8C"/>
                </a:solidFill>
                <a:latin typeface="Calibri"/>
                <a:ea typeface="Calibri"/>
                <a:cs typeface="Calibri"/>
                <a:sym typeface="Calibri"/>
              </a:rPr>
              <a:t>VO 3:</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“इन सब शब्दों में ‘प’ की आवाज़ बार-बार आई।”</a:t>
            </a:r>
            <a:endParaRPr/>
          </a:p>
          <a:p>
            <a:pPr indent="0" lvl="0" marL="0" marR="0" rtl="0" algn="l">
              <a:spcBef>
                <a:spcPts val="945"/>
              </a:spcBef>
              <a:spcAft>
                <a:spcPts val="0"/>
              </a:spcAft>
              <a:buNone/>
            </a:pPr>
            <a:r>
              <a:rPr b="1" lang="en-US" sz="1500">
                <a:solidFill>
                  <a:srgbClr val="0B3D8C"/>
                </a:solidFill>
                <a:latin typeface="Calibri"/>
                <a:ea typeface="Calibri"/>
                <a:cs typeface="Calibri"/>
                <a:sym typeface="Calibri"/>
              </a:rPr>
              <a:t>Recommended Animation Flow</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Sentence appears → words highlight one by one with VO 1 → word highlighting disappears → VO 2 plays with ‘प’ highlighted in each target word → letter ‘प’ appears/emphasises → VO 3 explains the repeated sound.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5"/>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Page 3 · 03_MEET_LETTER.png</a:t>
            </a:r>
            <a:endParaRPr/>
          </a:p>
        </p:txBody>
      </p:sp>
      <p:pic>
        <p:nvPicPr>
          <p:cNvPr descr="03_MEET_LETTER.png" id="178" name="Google Shape;178;p15"/>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6"/>
          <p:cNvSpPr txBox="1"/>
          <p:nvPr/>
        </p:nvSpPr>
        <p:spPr>
          <a:xfrm>
            <a:off x="365760" y="137160"/>
            <a:ext cx="1146048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B3D8C"/>
                </a:solidFill>
                <a:latin typeface="Calibri"/>
                <a:ea typeface="Calibri"/>
                <a:cs typeface="Calibri"/>
                <a:sym typeface="Calibri"/>
              </a:rPr>
              <a:t>Recommendations — Page 3 · 03_MEET_LETTER.png</a:t>
            </a:r>
            <a:endParaRPr/>
          </a:p>
        </p:txBody>
      </p:sp>
      <p:sp>
        <p:nvSpPr>
          <p:cNvPr id="184" name="Google Shape;184;p16"/>
          <p:cNvSpPr txBox="1"/>
          <p:nvPr/>
        </p:nvSpPr>
        <p:spPr>
          <a:xfrm>
            <a:off x="365760" y="792480"/>
            <a:ext cx="11460480" cy="5486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00">
                <a:solidFill>
                  <a:srgbClr val="0B3D8C"/>
                </a:solidFill>
                <a:latin typeface="Calibri"/>
                <a:ea typeface="Calibri"/>
                <a:cs typeface="Calibri"/>
                <a:sym typeface="Calibri"/>
              </a:rPr>
              <a:t>1. Remove explanatory text from the screen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Remove this text from the screen: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“हमने ‘प’ की आवाज़ सुनी। यह आवाज़ ‘प’ अक्षर से लिखी जाती है। जैसे—प से पपीता।”</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Keep this as VO only so the screen stays clean and visually focused.</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2. Improve the Papaya Visual</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Replace the current papaya image with a clear, full, child-friendly image of पपीता.</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The image should be easy to recognise and visually prominent.</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Add the label “पपीता” below the image.</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3. Letter Highlighting</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Keep the letter “प” clearly visible on the left side.</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When the VO says “प”, highlight the letter.</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When the VO says “पपीता”, highlight “प” again to reinforce the sound-letter connection.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Keep the highlighting precisely synced with the VO.</a:t>
            </a:r>
            <a:endParaRPr/>
          </a:p>
          <a:p>
            <a:pPr indent="0" lvl="0" marL="0" marR="0" rtl="0" algn="l">
              <a:spcBef>
                <a:spcPts val="945"/>
              </a:spcBef>
              <a:spcAft>
                <a:spcPts val="0"/>
              </a:spcAft>
              <a:buNone/>
            </a:pPr>
            <a:r>
              <a:rPr b="1" lang="en-US" sz="1500">
                <a:solidFill>
                  <a:srgbClr val="0B3D8C"/>
                </a:solidFill>
                <a:latin typeface="Calibri"/>
                <a:ea typeface="Calibri"/>
                <a:cs typeface="Calibri"/>
                <a:sym typeface="Calibri"/>
              </a:rPr>
              <a:t>Final VO</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“हमने ‘प’ की आवाज़ सुनी। यह आवाज़ ‘प’ अक्षर से लिखी जाती है। जैसे—प से पपीता।”</a:t>
            </a:r>
            <a:endParaRPr/>
          </a:p>
          <a:p>
            <a:pPr indent="0" lvl="0" marL="0" marR="0" rtl="0" algn="l">
              <a:spcBef>
                <a:spcPts val="945"/>
              </a:spcBef>
              <a:spcAft>
                <a:spcPts val="0"/>
              </a:spcAft>
              <a:buNone/>
            </a:pPr>
            <a:r>
              <a:rPr b="1" lang="en-US" sz="1500">
                <a:solidFill>
                  <a:srgbClr val="0B3D8C"/>
                </a:solidFill>
                <a:latin typeface="Calibri"/>
                <a:ea typeface="Calibri"/>
                <a:cs typeface="Calibri"/>
                <a:sym typeface="Calibri"/>
              </a:rPr>
              <a:t>Recommended Animation Flow</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‘प’ appears → VO introduces the sound → ‘प’ gets highlighted → papaya image appears → label “पपीता” appears → ‘प’ in “पपीता” is highlighted.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7"/>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Page 9 · 09_TAP_ALL_WITH_SOUND.png</a:t>
            </a:r>
            <a:endParaRPr/>
          </a:p>
        </p:txBody>
      </p:sp>
      <p:pic>
        <p:nvPicPr>
          <p:cNvPr descr="09_TAP_ALL_WITH_SOUND.png" id="190" name="Google Shape;190;p17"/>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8"/>
          <p:cNvSpPr txBox="1"/>
          <p:nvPr/>
        </p:nvSpPr>
        <p:spPr>
          <a:xfrm>
            <a:off x="365760" y="137160"/>
            <a:ext cx="1146048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B3D8C"/>
                </a:solidFill>
                <a:latin typeface="Calibri"/>
                <a:ea typeface="Calibri"/>
                <a:cs typeface="Calibri"/>
                <a:sym typeface="Calibri"/>
              </a:rPr>
              <a:t>Recommendations — Page 9 · 09_TAP_ALL_WITH_SOUND.png</a:t>
            </a:r>
            <a:endParaRPr/>
          </a:p>
        </p:txBody>
      </p:sp>
      <p:sp>
        <p:nvSpPr>
          <p:cNvPr id="196" name="Google Shape;196;p18"/>
          <p:cNvSpPr txBox="1"/>
          <p:nvPr/>
        </p:nvSpPr>
        <p:spPr>
          <a:xfrm>
            <a:off x="365760" y="792480"/>
            <a:ext cx="11460480" cy="5486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00">
                <a:solidFill>
                  <a:srgbClr val="1B2A44"/>
                </a:solidFill>
                <a:latin typeface="Calibri"/>
                <a:ea typeface="Calibri"/>
                <a:cs typeface="Calibri"/>
                <a:sym typeface="Calibri"/>
              </a:rPr>
              <a:t>Instruction text + VO:</a:t>
            </a:r>
            <a:endParaRPr/>
          </a:p>
          <a:p>
            <a:pPr indent="0" lvl="0" marL="0" marR="0" rtl="0" algn="l">
              <a:spcBef>
                <a:spcPts val="234"/>
              </a:spcBef>
              <a:spcAft>
                <a:spcPts val="0"/>
              </a:spcAft>
              <a:buNone/>
            </a:pPr>
            <a:r>
              <a:rPr lang="en-US" sz="1300">
                <a:solidFill>
                  <a:srgbClr val="1B2A44"/>
                </a:solidFill>
                <a:latin typeface="Calibri"/>
                <a:ea typeface="Calibri"/>
                <a:cs typeface="Calibri"/>
                <a:sym typeface="Calibri"/>
              </a:rPr>
              <a:t>“जिन शब्दों में ‘प’ की आवाज़ सुनाई दे, उन पर टैप करो।”</a:t>
            </a:r>
            <a:endParaRPr/>
          </a:p>
          <a:p>
            <a:pPr indent="0" lvl="0" marL="0" marR="0" rtl="0" algn="l">
              <a:spcBef>
                <a:spcPts val="949"/>
              </a:spcBef>
              <a:spcAft>
                <a:spcPts val="0"/>
              </a:spcAft>
              <a:buNone/>
            </a:pPr>
            <a:r>
              <a:rPr b="1" lang="en-US" sz="1300">
                <a:solidFill>
                  <a:srgbClr val="0B3D8C"/>
                </a:solidFill>
                <a:latin typeface="Calibri"/>
                <a:ea typeface="Calibri"/>
                <a:cs typeface="Calibri"/>
                <a:sym typeface="Calibri"/>
              </a:rPr>
              <a:t>2. Option Entry</a:t>
            </a:r>
            <a:endParaRPr/>
          </a:p>
          <a:p>
            <a:pPr indent="0" lvl="0" marL="0" marR="0" rtl="0" algn="l">
              <a:spcBef>
                <a:spcPts val="234"/>
              </a:spcBef>
              <a:spcAft>
                <a:spcPts val="0"/>
              </a:spcAft>
              <a:buNone/>
            </a:pPr>
            <a:r>
              <a:rPr lang="en-US" sz="1300">
                <a:solidFill>
                  <a:srgbClr val="1B2A44"/>
                </a:solidFill>
                <a:latin typeface="Calibri"/>
                <a:ea typeface="Calibri"/>
                <a:cs typeface="Calibri"/>
                <a:sym typeface="Calibri"/>
              </a:rPr>
              <a:t>After the instruction VO finishes, show the options one by one with a simple entrance animation.</a:t>
            </a:r>
            <a:endParaRPr/>
          </a:p>
          <a:p>
            <a:pPr indent="0" lvl="0" marL="0" marR="0" rtl="0" algn="l">
              <a:spcBef>
                <a:spcPts val="234"/>
              </a:spcBef>
              <a:spcAft>
                <a:spcPts val="0"/>
              </a:spcAft>
              <a:buNone/>
            </a:pPr>
            <a:r>
              <a:rPr lang="en-US" sz="1300">
                <a:solidFill>
                  <a:srgbClr val="1B2A44"/>
                </a:solidFill>
                <a:latin typeface="Calibri"/>
                <a:ea typeface="Calibri"/>
                <a:cs typeface="Calibri"/>
                <a:sym typeface="Calibri"/>
              </a:rPr>
              <a:t>Use 4 options only:</a:t>
            </a:r>
            <a:endParaRPr/>
          </a:p>
          <a:p>
            <a:pPr indent="0" lvl="0" marL="0" marR="0" rtl="0" algn="l">
              <a:spcBef>
                <a:spcPts val="234"/>
              </a:spcBef>
              <a:spcAft>
                <a:spcPts val="0"/>
              </a:spcAft>
              <a:buNone/>
            </a:pPr>
            <a:r>
              <a:rPr lang="en-US" sz="1300">
                <a:solidFill>
                  <a:srgbClr val="1B2A44"/>
                </a:solidFill>
                <a:latin typeface="Calibri"/>
                <a:ea typeface="Calibri"/>
                <a:cs typeface="Calibri"/>
                <a:sym typeface="Calibri"/>
              </a:rPr>
              <a:t>Correct: पपीता, पतंग</a:t>
            </a:r>
            <a:endParaRPr/>
          </a:p>
          <a:p>
            <a:pPr indent="0" lvl="0" marL="0" marR="0" rtl="0" algn="l">
              <a:spcBef>
                <a:spcPts val="234"/>
              </a:spcBef>
              <a:spcAft>
                <a:spcPts val="0"/>
              </a:spcAft>
              <a:buNone/>
            </a:pPr>
            <a:r>
              <a:rPr lang="en-US" sz="1300">
                <a:solidFill>
                  <a:srgbClr val="1B2A44"/>
                </a:solidFill>
                <a:latin typeface="Calibri"/>
                <a:ea typeface="Calibri"/>
                <a:cs typeface="Calibri"/>
                <a:sym typeface="Calibri"/>
              </a:rPr>
              <a:t>Incorrect: केला, आम</a:t>
            </a:r>
            <a:endParaRPr/>
          </a:p>
          <a:p>
            <a:pPr indent="0" lvl="0" marL="0" marR="0" rtl="0" algn="l">
              <a:spcBef>
                <a:spcPts val="234"/>
              </a:spcBef>
              <a:spcAft>
                <a:spcPts val="0"/>
              </a:spcAft>
              <a:buNone/>
            </a:pPr>
            <a:r>
              <a:rPr lang="en-US" sz="1300">
                <a:solidFill>
                  <a:srgbClr val="1B2A44"/>
                </a:solidFill>
                <a:latin typeface="Calibri"/>
                <a:ea typeface="Calibri"/>
                <a:cs typeface="Calibri"/>
                <a:sym typeface="Calibri"/>
              </a:rPr>
              <a:t>Each option should have a clear image with its word label, similar to the existing screen layout.</a:t>
            </a:r>
            <a:endParaRPr/>
          </a:p>
          <a:p>
            <a:pPr indent="0" lvl="0" marL="0" marR="0" rtl="0" algn="l">
              <a:spcBef>
                <a:spcPts val="949"/>
              </a:spcBef>
              <a:spcAft>
                <a:spcPts val="0"/>
              </a:spcAft>
              <a:buNone/>
            </a:pPr>
            <a:r>
              <a:rPr b="1" lang="en-US" sz="1300">
                <a:solidFill>
                  <a:srgbClr val="0B3D8C"/>
                </a:solidFill>
                <a:latin typeface="Calibri"/>
                <a:ea typeface="Calibri"/>
                <a:cs typeface="Calibri"/>
                <a:sym typeface="Calibri"/>
              </a:rPr>
              <a:t>3. Correct Selection</a:t>
            </a:r>
            <a:endParaRPr/>
          </a:p>
          <a:p>
            <a:pPr indent="0" lvl="0" marL="0" marR="0" rtl="0" algn="l">
              <a:spcBef>
                <a:spcPts val="234"/>
              </a:spcBef>
              <a:spcAft>
                <a:spcPts val="0"/>
              </a:spcAft>
              <a:buNone/>
            </a:pPr>
            <a:r>
              <a:rPr lang="en-US" sz="1300">
                <a:solidFill>
                  <a:srgbClr val="1B2A44"/>
                </a:solidFill>
                <a:latin typeface="Calibri"/>
                <a:ea typeface="Calibri"/>
                <a:cs typeface="Calibri"/>
                <a:sym typeface="Calibri"/>
              </a:rPr>
              <a:t>If the child taps a correct option:</a:t>
            </a:r>
            <a:endParaRPr/>
          </a:p>
          <a:p>
            <a:pPr indent="0" lvl="0" marL="0" marR="0" rtl="0" algn="l">
              <a:spcBef>
                <a:spcPts val="234"/>
              </a:spcBef>
              <a:spcAft>
                <a:spcPts val="0"/>
              </a:spcAft>
              <a:buNone/>
            </a:pPr>
            <a:r>
              <a:rPr lang="en-US" sz="1300">
                <a:solidFill>
                  <a:srgbClr val="1B2A44"/>
                </a:solidFill>
                <a:latin typeface="Calibri"/>
                <a:ea typeface="Calibri"/>
                <a:cs typeface="Calibri"/>
                <a:sym typeface="Calibri"/>
              </a:rPr>
              <a:t>Highlight the card positively.</a:t>
            </a:r>
            <a:endParaRPr/>
          </a:p>
          <a:p>
            <a:pPr indent="0" lvl="0" marL="0" marR="0" rtl="0" algn="l">
              <a:spcBef>
                <a:spcPts val="234"/>
              </a:spcBef>
              <a:spcAft>
                <a:spcPts val="0"/>
              </a:spcAft>
              <a:buNone/>
            </a:pPr>
            <a:r>
              <a:rPr lang="en-US" sz="1300">
                <a:solidFill>
                  <a:srgbClr val="1B2A44"/>
                </a:solidFill>
                <a:latin typeface="Calibri"/>
                <a:ea typeface="Calibri"/>
                <a:cs typeface="Calibri"/>
                <a:sym typeface="Calibri"/>
              </a:rPr>
              <a:t>Play a small sparkle/tick animation.</a:t>
            </a:r>
            <a:endParaRPr/>
          </a:p>
          <a:p>
            <a:pPr indent="0" lvl="0" marL="0" marR="0" rtl="0" algn="l">
              <a:spcBef>
                <a:spcPts val="234"/>
              </a:spcBef>
              <a:spcAft>
                <a:spcPts val="0"/>
              </a:spcAft>
              <a:buNone/>
            </a:pPr>
            <a:r>
              <a:rPr lang="en-US" sz="1300">
                <a:solidFill>
                  <a:srgbClr val="1B2A44"/>
                </a:solidFill>
                <a:latin typeface="Calibri"/>
                <a:ea typeface="Calibri"/>
                <a:cs typeface="Calibri"/>
                <a:sym typeface="Calibri"/>
              </a:rPr>
              <a:t>Keep the selected option visually marked as correct.</a:t>
            </a:r>
            <a:endParaRPr/>
          </a:p>
          <a:p>
            <a:pPr indent="0" lvl="0" marL="0" marR="0" rtl="0" algn="l">
              <a:spcBef>
                <a:spcPts val="234"/>
              </a:spcBef>
              <a:spcAft>
                <a:spcPts val="0"/>
              </a:spcAft>
              <a:buNone/>
            </a:pPr>
            <a:r>
              <a:rPr lang="en-US" sz="1300">
                <a:solidFill>
                  <a:srgbClr val="1B2A44"/>
                </a:solidFill>
                <a:latin typeface="Calibri"/>
                <a:ea typeface="Calibri"/>
                <a:cs typeface="Calibri"/>
                <a:sym typeface="Calibri"/>
              </a:rPr>
              <a:t>Do not allow repeated selection of the same correct option.</a:t>
            </a:r>
            <a:endParaRPr/>
          </a:p>
          <a:p>
            <a:pPr indent="0" lvl="0" marL="0" marR="0" rtl="0" algn="l">
              <a:spcBef>
                <a:spcPts val="949"/>
              </a:spcBef>
              <a:spcAft>
                <a:spcPts val="0"/>
              </a:spcAft>
              <a:buNone/>
            </a:pPr>
            <a:r>
              <a:rPr b="1" lang="en-US" sz="1300">
                <a:solidFill>
                  <a:srgbClr val="0B3D8C"/>
                </a:solidFill>
                <a:latin typeface="Calibri"/>
                <a:ea typeface="Calibri"/>
                <a:cs typeface="Calibri"/>
                <a:sym typeface="Calibri"/>
              </a:rPr>
              <a:t>4. Wrong Selection</a:t>
            </a:r>
            <a:endParaRPr/>
          </a:p>
          <a:p>
            <a:pPr indent="0" lvl="0" marL="0" marR="0" rtl="0" algn="l">
              <a:spcBef>
                <a:spcPts val="234"/>
              </a:spcBef>
              <a:spcAft>
                <a:spcPts val="0"/>
              </a:spcAft>
              <a:buNone/>
            </a:pPr>
            <a:r>
              <a:rPr lang="en-US" sz="1300">
                <a:solidFill>
                  <a:srgbClr val="1B2A44"/>
                </a:solidFill>
                <a:latin typeface="Calibri"/>
                <a:ea typeface="Calibri"/>
                <a:cs typeface="Calibri"/>
                <a:sym typeface="Calibri"/>
              </a:rPr>
              <a:t>For example, if the child taps “आम”:</a:t>
            </a:r>
            <a:endParaRPr/>
          </a:p>
          <a:p>
            <a:pPr indent="0" lvl="0" marL="0" marR="0" rtl="0" algn="l">
              <a:spcBef>
                <a:spcPts val="234"/>
              </a:spcBef>
              <a:spcAft>
                <a:spcPts val="0"/>
              </a:spcAft>
              <a:buNone/>
            </a:pPr>
            <a:r>
              <a:rPr lang="en-US" sz="1300">
                <a:solidFill>
                  <a:srgbClr val="1B2A44"/>
                </a:solidFill>
                <a:latin typeface="Calibri"/>
                <a:ea typeface="Calibri"/>
                <a:cs typeface="Calibri"/>
                <a:sym typeface="Calibri"/>
              </a:rPr>
              <a:t>The selected card should give a gentle shake animation.</a:t>
            </a:r>
            <a:endParaRPr/>
          </a:p>
          <a:p>
            <a:pPr indent="0" lvl="0" marL="0" marR="0" rtl="0" algn="l">
              <a:spcBef>
                <a:spcPts val="234"/>
              </a:spcBef>
              <a:spcAft>
                <a:spcPts val="0"/>
              </a:spcAft>
              <a:buNone/>
            </a:pPr>
            <a:r>
              <a:rPr lang="en-US" sz="1300">
                <a:solidFill>
                  <a:srgbClr val="1B2A44"/>
                </a:solidFill>
                <a:latin typeface="Calibri"/>
                <a:ea typeface="Calibri"/>
                <a:cs typeface="Calibri"/>
                <a:sym typeface="Calibri"/>
              </a:rPr>
              <a:t>Show a light red feedback highlight briefly.</a:t>
            </a:r>
            <a:endParaRPr/>
          </a:p>
          <a:p>
            <a:pPr indent="0" lvl="0" marL="0" marR="0" rtl="0" algn="l">
              <a:spcBef>
                <a:spcPts val="234"/>
              </a:spcBef>
              <a:spcAft>
                <a:spcPts val="0"/>
              </a:spcAft>
              <a:buNone/>
            </a:pPr>
            <a:r>
              <a:rPr lang="en-US" sz="1300">
                <a:solidFill>
                  <a:srgbClr val="1B2A44"/>
                </a:solidFill>
                <a:latin typeface="Calibri"/>
                <a:ea typeface="Calibri"/>
                <a:cs typeface="Calibri"/>
                <a:sym typeface="Calibri"/>
              </a:rPr>
              <a:t>Do not remove the option.</a:t>
            </a:r>
            <a:endParaRPr/>
          </a:p>
          <a:p>
            <a:pPr indent="0" lvl="0" marL="0" marR="0" rtl="0" algn="l">
              <a:spcBef>
                <a:spcPts val="234"/>
              </a:spcBef>
              <a:spcAft>
                <a:spcPts val="0"/>
              </a:spcAft>
              <a:buNone/>
            </a:pPr>
            <a:r>
              <a:rPr lang="en-US" sz="1300">
                <a:solidFill>
                  <a:srgbClr val="1B2A44"/>
                </a:solidFill>
                <a:latin typeface="Calibri"/>
                <a:ea typeface="Calibri"/>
                <a:cs typeface="Calibri"/>
                <a:sym typeface="Calibri"/>
              </a:rPr>
              <a:t>Then play a hint VO.</a:t>
            </a:r>
            <a:endParaRPr/>
          </a:p>
          <a:p>
            <a:pPr indent="0" lvl="0" marL="0" marR="0" rtl="0" algn="l">
              <a:spcBef>
                <a:spcPts val="819"/>
              </a:spcBef>
              <a:spcAft>
                <a:spcPts val="0"/>
              </a:spcAft>
              <a:buNone/>
            </a:pPr>
            <a:r>
              <a:rPr b="1" lang="en-US" sz="1300">
                <a:solidFill>
                  <a:srgbClr val="0B3D8C"/>
                </a:solidFill>
                <a:latin typeface="Calibri"/>
                <a:ea typeface="Calibri"/>
                <a:cs typeface="Calibri"/>
                <a:sym typeface="Calibri"/>
              </a:rPr>
              <a:t>Hint VO:</a:t>
            </a:r>
            <a:endParaRPr/>
          </a:p>
          <a:p>
            <a:pPr indent="0" lvl="0" marL="0" marR="0" rtl="0" algn="l">
              <a:spcBef>
                <a:spcPts val="234"/>
              </a:spcBef>
              <a:spcAft>
                <a:spcPts val="0"/>
              </a:spcAft>
              <a:buNone/>
            </a:pPr>
            <a:r>
              <a:rPr lang="en-US" sz="1300">
                <a:solidFill>
                  <a:srgbClr val="1B2A44"/>
                </a:solidFill>
                <a:latin typeface="Calibri"/>
                <a:ea typeface="Calibri"/>
                <a:cs typeface="Calibri"/>
                <a:sym typeface="Calibri"/>
              </a:rPr>
              <a:t>“हर शब्द को ध्यान से देखो और सुनो। किस शब्द में ‘प’ की आवाज़ आ रही है?”</a:t>
            </a:r>
            <a:endParaRPr/>
          </a:p>
          <a:p>
            <a:pPr indent="0" lvl="0" marL="0" marR="0" rtl="0" algn="l">
              <a:spcBef>
                <a:spcPts val="234"/>
              </a:spcBef>
              <a:spcAft>
                <a:spcPts val="0"/>
              </a:spcAft>
              <a:buNone/>
            </a:pPr>
            <a:r>
              <a:rPr lang="en-US" sz="1300">
                <a:solidFill>
                  <a:srgbClr val="1B2A44"/>
                </a:solidFill>
                <a:latin typeface="Calibri"/>
                <a:ea typeface="Calibri"/>
                <a:cs typeface="Calibri"/>
                <a:sym typeface="Calibri"/>
              </a:rPr>
              <a:t>After the hint VO, allow the child to try again.</a:t>
            </a:r>
            <a:endParaRPr/>
          </a:p>
          <a:p>
            <a:pPr indent="0" lvl="0" marL="0" marR="0" rtl="0" algn="l">
              <a:spcBef>
                <a:spcPts val="949"/>
              </a:spcBef>
              <a:spcAft>
                <a:spcPts val="0"/>
              </a:spcAft>
              <a:buNone/>
            </a:pPr>
            <a:r>
              <a:rPr b="1" lang="en-US" sz="1300">
                <a:solidFill>
                  <a:srgbClr val="0B3D8C"/>
                </a:solidFill>
                <a:latin typeface="Calibri"/>
                <a:ea typeface="Calibri"/>
                <a:cs typeface="Calibri"/>
                <a:sym typeface="Calibri"/>
              </a:rPr>
              <a:t>5. Existing Hint Logic</a:t>
            </a:r>
            <a:endParaRPr/>
          </a:p>
          <a:p>
            <a:pPr indent="0" lvl="0" marL="0" marR="0" rtl="0" algn="l">
              <a:spcBef>
                <a:spcPts val="234"/>
              </a:spcBef>
              <a:spcAft>
                <a:spcPts val="0"/>
              </a:spcAft>
              <a:buNone/>
            </a:pPr>
            <a:r>
              <a:rPr lang="en-US" sz="1300">
                <a:solidFill>
                  <a:srgbClr val="1B2A44"/>
                </a:solidFill>
                <a:latin typeface="Calibri"/>
                <a:ea typeface="Calibri"/>
                <a:cs typeface="Calibri"/>
                <a:sym typeface="Calibri"/>
              </a:rPr>
              <a:t>Keep the current hint logic already implemented in the activity.</a:t>
            </a:r>
            <a:endParaRPr/>
          </a:p>
          <a:p>
            <a:pPr indent="0" lvl="0" marL="0" marR="0" rtl="0" algn="l">
              <a:spcBef>
                <a:spcPts val="234"/>
              </a:spcBef>
              <a:spcAft>
                <a:spcPts val="0"/>
              </a:spcAft>
              <a:buNone/>
            </a:pPr>
            <a:r>
              <a:rPr lang="en-US" sz="1300">
                <a:solidFill>
                  <a:srgbClr val="1B2A44"/>
                </a:solidFill>
                <a:latin typeface="Calibri"/>
                <a:ea typeface="Calibri"/>
                <a:cs typeface="Calibri"/>
                <a:sym typeface="Calibri"/>
              </a:rPr>
              <a:t>Do not introduce a completely new hint flow.</a:t>
            </a:r>
            <a:endParaRPr/>
          </a:p>
          <a:p>
            <a:pPr indent="0" lvl="0" marL="0" marR="0" rtl="0" algn="l">
              <a:spcBef>
                <a:spcPts val="234"/>
              </a:spcBef>
              <a:spcAft>
                <a:spcPts val="0"/>
              </a:spcAft>
              <a:buNone/>
            </a:pPr>
            <a:r>
              <a:rPr lang="en-US" sz="1300">
                <a:solidFill>
                  <a:srgbClr val="1B2A44"/>
                </a:solidFill>
                <a:latin typeface="Calibri"/>
                <a:ea typeface="Calibri"/>
                <a:cs typeface="Calibri"/>
                <a:sym typeface="Calibri"/>
              </a:rPr>
              <a:t>The hint should support the learner without directly revealing the answer.</a:t>
            </a:r>
            <a:endParaRPr/>
          </a:p>
          <a:p>
            <a:pPr indent="0" lvl="0" marL="0" marR="0" rtl="0" algn="l">
              <a:spcBef>
                <a:spcPts val="234"/>
              </a:spcBef>
              <a:spcAft>
                <a:spcPts val="0"/>
              </a:spcAft>
              <a:buNone/>
            </a:pPr>
            <a:r>
              <a:rPr lang="en-US" sz="1300">
                <a:solidFill>
                  <a:srgbClr val="1B2A44"/>
                </a:solidFill>
                <a:latin typeface="Calibri"/>
                <a:ea typeface="Calibri"/>
                <a:cs typeface="Calibri"/>
                <a:sym typeface="Calibri"/>
              </a:rPr>
              <a:t>If the existing logic includes hand guidance after repeated wrong attempts, retain the same behaviour.</a:t>
            </a:r>
            <a:endParaRPr/>
          </a:p>
          <a:p>
            <a:pPr indent="0" lvl="0" marL="0" marR="0" rtl="0" algn="l">
              <a:spcBef>
                <a:spcPts val="949"/>
              </a:spcBef>
              <a:spcAft>
                <a:spcPts val="0"/>
              </a:spcAft>
              <a:buNone/>
            </a:pPr>
            <a:r>
              <a:rPr b="1" lang="en-US" sz="1300">
                <a:solidFill>
                  <a:srgbClr val="0B3D8C"/>
                </a:solidFill>
                <a:latin typeface="Calibri"/>
                <a:ea typeface="Calibri"/>
                <a:cs typeface="Calibri"/>
                <a:sym typeface="Calibri"/>
              </a:rPr>
              <a:t>6. Hand Nudge</a:t>
            </a:r>
            <a:endParaRPr/>
          </a:p>
          <a:p>
            <a:pPr indent="0" lvl="0" marL="0" marR="0" rtl="0" algn="l">
              <a:spcBef>
                <a:spcPts val="234"/>
              </a:spcBef>
              <a:spcAft>
                <a:spcPts val="0"/>
              </a:spcAft>
              <a:buNone/>
            </a:pPr>
            <a:r>
              <a:rPr lang="en-US" sz="1300">
                <a:solidFill>
                  <a:srgbClr val="1B2A44"/>
                </a:solidFill>
                <a:latin typeface="Calibri"/>
                <a:ea typeface="Calibri"/>
                <a:cs typeface="Calibri"/>
                <a:sym typeface="Calibri"/>
              </a:rPr>
              <a:t>After repeated incorrect attempts, show a subtle hand nudge on one remaining correct option.</a:t>
            </a:r>
            <a:endParaRPr/>
          </a:p>
          <a:p>
            <a:pPr indent="0" lvl="0" marL="0" marR="0" rtl="0" algn="l">
              <a:spcBef>
                <a:spcPts val="234"/>
              </a:spcBef>
              <a:spcAft>
                <a:spcPts val="0"/>
              </a:spcAft>
              <a:buNone/>
            </a:pPr>
            <a:r>
              <a:rPr lang="en-US" sz="1300">
                <a:solidFill>
                  <a:srgbClr val="1B2A44"/>
                </a:solidFill>
                <a:latin typeface="Calibri"/>
                <a:ea typeface="Calibri"/>
                <a:cs typeface="Calibri"/>
                <a:sym typeface="Calibri"/>
              </a:rPr>
              <a:t>The hand should gently pulse/tap on the option.</a:t>
            </a:r>
            <a:endParaRPr/>
          </a:p>
          <a:p>
            <a:pPr indent="0" lvl="0" marL="0" marR="0" rtl="0" algn="l">
              <a:spcBef>
                <a:spcPts val="234"/>
              </a:spcBef>
              <a:spcAft>
                <a:spcPts val="0"/>
              </a:spcAft>
              <a:buNone/>
            </a:pPr>
            <a:r>
              <a:rPr lang="en-US" sz="1300">
                <a:solidFill>
                  <a:srgbClr val="1B2A44"/>
                </a:solidFill>
                <a:latin typeface="Calibri"/>
                <a:ea typeface="Calibri"/>
                <a:cs typeface="Calibri"/>
                <a:sym typeface="Calibri"/>
              </a:rPr>
              <a:t>Do not auto-select the answer; the child should still tap it independently.</a:t>
            </a:r>
            <a:endParaRPr/>
          </a:p>
          <a:p>
            <a:pPr indent="0" lvl="0" marL="0" marR="0" rtl="0" algn="l">
              <a:spcBef>
                <a:spcPts val="819"/>
              </a:spcBef>
              <a:spcAft>
                <a:spcPts val="0"/>
              </a:spcAft>
              <a:buNone/>
            </a:pPr>
            <a:r>
              <a:rPr b="1" lang="en-US" sz="1300">
                <a:solidFill>
                  <a:srgbClr val="0B3D8C"/>
                </a:solidFill>
                <a:latin typeface="Calibri"/>
                <a:ea typeface="Calibri"/>
                <a:cs typeface="Calibri"/>
                <a:sym typeface="Calibri"/>
              </a:rPr>
              <a:t>Recommended Flow</a:t>
            </a:r>
            <a:endParaRPr/>
          </a:p>
          <a:p>
            <a:pPr indent="0" lvl="0" marL="0" marR="0" rtl="0" algn="l">
              <a:spcBef>
                <a:spcPts val="234"/>
              </a:spcBef>
              <a:spcAft>
                <a:spcPts val="0"/>
              </a:spcAft>
              <a:buNone/>
            </a:pPr>
            <a:r>
              <a:rPr lang="en-US" sz="1300">
                <a:solidFill>
                  <a:srgbClr val="1B2A44"/>
                </a:solidFill>
                <a:latin typeface="Calibri"/>
                <a:ea typeface="Calibri"/>
                <a:cs typeface="Calibri"/>
                <a:sym typeface="Calibri"/>
              </a:rPr>
              <a:t>Instruction text + VO → options appear one by one → child selects → correct: positive feedback → wrong: shake + red highlight + hint VO → retry → repeated wrong: existing hint/hand nudge logic → both correct selected.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9"/>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Page 10 · 10_SENTENCE_SOUND.png</a:t>
            </a:r>
            <a:endParaRPr/>
          </a:p>
        </p:txBody>
      </p:sp>
      <p:pic>
        <p:nvPicPr>
          <p:cNvPr descr="10_SENTENCE_SOUND.png" id="202" name="Google Shape;202;p19"/>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0"/>
          <p:cNvSpPr txBox="1"/>
          <p:nvPr/>
        </p:nvSpPr>
        <p:spPr>
          <a:xfrm>
            <a:off x="365760" y="137160"/>
            <a:ext cx="1146048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B3D8C"/>
                </a:solidFill>
                <a:latin typeface="Calibri"/>
                <a:ea typeface="Calibri"/>
                <a:cs typeface="Calibri"/>
                <a:sym typeface="Calibri"/>
              </a:rPr>
              <a:t>Recommendations — Page 10 · 10_SENTENCE_SOUND.png</a:t>
            </a:r>
            <a:endParaRPr/>
          </a:p>
        </p:txBody>
      </p:sp>
      <p:sp>
        <p:nvSpPr>
          <p:cNvPr id="208" name="Google Shape;208;p20"/>
          <p:cNvSpPr txBox="1"/>
          <p:nvPr/>
        </p:nvSpPr>
        <p:spPr>
          <a:xfrm>
            <a:off x="365760" y="792480"/>
            <a:ext cx="11460480" cy="5486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1.Instruction Text + VO:</a:t>
            </a:r>
            <a:endParaRPr/>
          </a:p>
          <a:p>
            <a:pPr indent="0" lvl="0" marL="0" marR="0" rtl="0" algn="l">
              <a:spcBef>
                <a:spcPts val="252"/>
              </a:spcBef>
              <a:spcAft>
                <a:spcPts val="0"/>
              </a:spcAft>
              <a:buNone/>
            </a:pPr>
            <a:r>
              <a:rPr lang="en-US" sz="1400">
                <a:solidFill>
                  <a:srgbClr val="1B2A44"/>
                </a:solidFill>
                <a:latin typeface="Calibri"/>
                <a:ea typeface="Calibri"/>
                <a:cs typeface="Calibri"/>
                <a:sym typeface="Calibri"/>
              </a:rPr>
              <a:t>“ध्यान से सुनो — इस वाक्य में कौन-सी आवाज़ बार-बार आई?”</a:t>
            </a:r>
            <a:endParaRPr/>
          </a:p>
          <a:p>
            <a:pPr indent="0" lvl="0" marL="0" marR="0" rtl="0" algn="l">
              <a:spcBef>
                <a:spcPts val="1022"/>
              </a:spcBef>
              <a:spcAft>
                <a:spcPts val="0"/>
              </a:spcAft>
              <a:buNone/>
            </a:pPr>
            <a:r>
              <a:rPr b="1" lang="en-US" sz="1400">
                <a:solidFill>
                  <a:srgbClr val="0B3D8C"/>
                </a:solidFill>
                <a:latin typeface="Calibri"/>
                <a:ea typeface="Calibri"/>
                <a:cs typeface="Calibri"/>
                <a:sym typeface="Calibri"/>
              </a:rPr>
              <a:t>2. Sentence Presentation</a:t>
            </a:r>
            <a:endParaRPr/>
          </a:p>
          <a:p>
            <a:pPr indent="0" lvl="0" marL="0" marR="0" rtl="0" algn="l">
              <a:spcBef>
                <a:spcPts val="252"/>
              </a:spcBef>
              <a:spcAft>
                <a:spcPts val="0"/>
              </a:spcAft>
              <a:buNone/>
            </a:pPr>
            <a:r>
              <a:rPr lang="en-US" sz="1400">
                <a:solidFill>
                  <a:srgbClr val="1B2A44"/>
                </a:solidFill>
                <a:latin typeface="Calibri"/>
                <a:ea typeface="Calibri"/>
                <a:cs typeface="Calibri"/>
                <a:sym typeface="Calibri"/>
              </a:rPr>
              <a:t>Use the sentence:</a:t>
            </a:r>
            <a:endParaRPr/>
          </a:p>
          <a:p>
            <a:pPr indent="0" lvl="0" marL="0" marR="0" rtl="0" algn="l">
              <a:spcBef>
                <a:spcPts val="252"/>
              </a:spcBef>
              <a:spcAft>
                <a:spcPts val="0"/>
              </a:spcAft>
              <a:buNone/>
            </a:pPr>
            <a:r>
              <a:rPr lang="en-US" sz="1400">
                <a:solidFill>
                  <a:srgbClr val="1B2A44"/>
                </a:solidFill>
                <a:latin typeface="Calibri"/>
                <a:ea typeface="Calibri"/>
                <a:cs typeface="Calibri"/>
                <a:sym typeface="Calibri"/>
              </a:rPr>
              <a:t>“चूहे ने चार चने चबाए।”</a:t>
            </a:r>
            <a:endParaRPr/>
          </a:p>
          <a:p>
            <a:pPr indent="0" lvl="0" marL="0" marR="0" rtl="0" algn="l">
              <a:spcBef>
                <a:spcPts val="252"/>
              </a:spcBef>
              <a:spcAft>
                <a:spcPts val="0"/>
              </a:spcAft>
              <a:buNone/>
            </a:pPr>
            <a:r>
              <a:rPr lang="en-US" sz="1400">
                <a:solidFill>
                  <a:srgbClr val="1B2A44"/>
                </a:solidFill>
                <a:latin typeface="Calibri"/>
                <a:ea typeface="Calibri"/>
                <a:cs typeface="Calibri"/>
                <a:sym typeface="Calibri"/>
              </a:rPr>
              <a:t>Play the complete sentence through VO.</a:t>
            </a:r>
            <a:endParaRPr/>
          </a:p>
          <a:p>
            <a:pPr indent="0" lvl="0" marL="0" marR="0" rtl="0" algn="l">
              <a:spcBef>
                <a:spcPts val="252"/>
              </a:spcBef>
              <a:spcAft>
                <a:spcPts val="0"/>
              </a:spcAft>
              <a:buNone/>
            </a:pPr>
            <a:r>
              <a:rPr lang="en-US" sz="1400">
                <a:solidFill>
                  <a:srgbClr val="1B2A44"/>
                </a:solidFill>
                <a:latin typeface="Calibri"/>
                <a:ea typeface="Calibri"/>
                <a:cs typeface="Calibri"/>
                <a:sym typeface="Calibri"/>
              </a:rPr>
              <a:t>Keep the sentence/target words visible on screen.</a:t>
            </a:r>
            <a:endParaRPr/>
          </a:p>
          <a:p>
            <a:pPr indent="0" lvl="0" marL="0" marR="0" rtl="0" algn="l">
              <a:spcBef>
                <a:spcPts val="1022"/>
              </a:spcBef>
              <a:spcAft>
                <a:spcPts val="0"/>
              </a:spcAft>
              <a:buNone/>
            </a:pPr>
            <a:r>
              <a:rPr b="1" lang="en-US" sz="1400">
                <a:solidFill>
                  <a:srgbClr val="0B3D8C"/>
                </a:solidFill>
                <a:latin typeface="Calibri"/>
                <a:ea typeface="Calibri"/>
                <a:cs typeface="Calibri"/>
                <a:sym typeface="Calibri"/>
              </a:rPr>
              <a:t>3. Letter Entry Animation</a:t>
            </a:r>
            <a:endParaRPr/>
          </a:p>
          <a:p>
            <a:pPr indent="0" lvl="0" marL="0" marR="0" rtl="0" algn="l">
              <a:spcBef>
                <a:spcPts val="252"/>
              </a:spcBef>
              <a:spcAft>
                <a:spcPts val="0"/>
              </a:spcAft>
              <a:buNone/>
            </a:pPr>
            <a:r>
              <a:rPr lang="en-US" sz="1400">
                <a:solidFill>
                  <a:srgbClr val="1B2A44"/>
                </a:solidFill>
                <a:latin typeface="Calibri"/>
                <a:ea typeface="Calibri"/>
                <a:cs typeface="Calibri"/>
                <a:sym typeface="Calibri"/>
              </a:rPr>
              <a:t>Show 3 large letter options:</a:t>
            </a:r>
            <a:endParaRPr/>
          </a:p>
          <a:p>
            <a:pPr indent="0" lvl="0" marL="0" marR="0" rtl="0" algn="l">
              <a:spcBef>
                <a:spcPts val="252"/>
              </a:spcBef>
              <a:spcAft>
                <a:spcPts val="0"/>
              </a:spcAft>
              <a:buNone/>
            </a:pPr>
            <a:r>
              <a:rPr lang="en-US" sz="1400">
                <a:solidFill>
                  <a:srgbClr val="1B2A44"/>
                </a:solidFill>
                <a:latin typeface="Calibri"/>
                <a:ea typeface="Calibri"/>
                <a:cs typeface="Calibri"/>
                <a:sym typeface="Calibri"/>
              </a:rPr>
              <a:t>च   ल   र</a:t>
            </a:r>
            <a:endParaRPr/>
          </a:p>
          <a:p>
            <a:pPr indent="0" lvl="0" marL="0" marR="0" rtl="0" algn="l">
              <a:spcBef>
                <a:spcPts val="252"/>
              </a:spcBef>
              <a:spcAft>
                <a:spcPts val="0"/>
              </a:spcAft>
              <a:buNone/>
            </a:pPr>
            <a:r>
              <a:rPr lang="en-US" sz="1400">
                <a:solidFill>
                  <a:srgbClr val="1B2A44"/>
                </a:solidFill>
                <a:latin typeface="Calibri"/>
                <a:ea typeface="Calibri"/>
                <a:cs typeface="Calibri"/>
                <a:sym typeface="Calibri"/>
              </a:rPr>
              <a:t>Letters should appear one by one, not all together.</a:t>
            </a:r>
            <a:endParaRPr/>
          </a:p>
          <a:p>
            <a:pPr indent="0" lvl="0" marL="0" marR="0" rtl="0" algn="l">
              <a:spcBef>
                <a:spcPts val="252"/>
              </a:spcBef>
              <a:spcAft>
                <a:spcPts val="0"/>
              </a:spcAft>
              <a:buNone/>
            </a:pPr>
            <a:r>
              <a:rPr lang="en-US" sz="1400">
                <a:solidFill>
                  <a:srgbClr val="1B2A44"/>
                </a:solidFill>
                <a:latin typeface="Calibri"/>
                <a:ea typeface="Calibri"/>
                <a:cs typeface="Calibri"/>
                <a:sym typeface="Calibri"/>
              </a:rPr>
              <a:t>As each letter appears, play its corresponding sound/VO.</a:t>
            </a:r>
            <a:endParaRPr/>
          </a:p>
          <a:p>
            <a:pPr indent="0" lvl="0" marL="0" marR="0" rtl="0" algn="l">
              <a:spcBef>
                <a:spcPts val="882"/>
              </a:spcBef>
              <a:spcAft>
                <a:spcPts val="0"/>
              </a:spcAft>
              <a:buNone/>
            </a:pPr>
            <a:r>
              <a:rPr b="1" lang="en-US" sz="1400">
                <a:solidFill>
                  <a:srgbClr val="0B3D8C"/>
                </a:solidFill>
                <a:latin typeface="Calibri"/>
                <a:ea typeface="Calibri"/>
                <a:cs typeface="Calibri"/>
                <a:sym typeface="Calibri"/>
              </a:rPr>
              <a:t>Suggested sequence:</a:t>
            </a:r>
            <a:endParaRPr/>
          </a:p>
          <a:p>
            <a:pPr indent="0" lvl="0" marL="0" marR="0" rtl="0" algn="l">
              <a:spcBef>
                <a:spcPts val="252"/>
              </a:spcBef>
              <a:spcAft>
                <a:spcPts val="0"/>
              </a:spcAft>
              <a:buNone/>
            </a:pPr>
            <a:r>
              <a:rPr lang="en-US" sz="1400">
                <a:solidFill>
                  <a:srgbClr val="1B2A44"/>
                </a:solidFill>
                <a:latin typeface="Calibri"/>
                <a:ea typeface="Calibri"/>
                <a:cs typeface="Calibri"/>
                <a:sym typeface="Calibri"/>
              </a:rPr>
              <a:t>“च” → “ल” → “र”</a:t>
            </a:r>
            <a:endParaRPr/>
          </a:p>
          <a:p>
            <a:pPr indent="0" lvl="0" marL="0" marR="0" rtl="0" algn="l">
              <a:spcBef>
                <a:spcPts val="252"/>
              </a:spcBef>
              <a:spcAft>
                <a:spcPts val="0"/>
              </a:spcAft>
              <a:buNone/>
            </a:pPr>
            <a:r>
              <a:rPr lang="en-US" sz="1400">
                <a:solidFill>
                  <a:srgbClr val="1B2A44"/>
                </a:solidFill>
                <a:latin typeface="Calibri"/>
                <a:ea typeface="Calibri"/>
                <a:cs typeface="Calibri"/>
                <a:sym typeface="Calibri"/>
              </a:rPr>
              <a:t>Keep a short pause between each letter so the child can hear and process the sound.</a:t>
            </a:r>
            <a:endParaRPr/>
          </a:p>
          <a:p>
            <a:pPr indent="0" lvl="0" marL="0" marR="0" rtl="0" algn="l">
              <a:spcBef>
                <a:spcPts val="252"/>
              </a:spcBef>
              <a:spcAft>
                <a:spcPts val="0"/>
              </a:spcAft>
              <a:buNone/>
            </a:pPr>
            <a:r>
              <a:rPr lang="en-US" sz="1400">
                <a:solidFill>
                  <a:srgbClr val="1B2A44"/>
                </a:solidFill>
                <a:latin typeface="Calibri"/>
                <a:ea typeface="Calibri"/>
                <a:cs typeface="Calibri"/>
                <a:sym typeface="Calibri"/>
              </a:rPr>
              <a:t>Once all three letters are visible, enable the options for selection.</a:t>
            </a:r>
            <a:endParaRPr/>
          </a:p>
          <a:p>
            <a:pPr indent="0" lvl="0" marL="0" marR="0" rtl="0" algn="l">
              <a:spcBef>
                <a:spcPts val="882"/>
              </a:spcBef>
              <a:spcAft>
                <a:spcPts val="0"/>
              </a:spcAft>
              <a:buNone/>
            </a:pPr>
            <a:r>
              <a:rPr b="1" lang="en-US" sz="1400">
                <a:solidFill>
                  <a:srgbClr val="0B3D8C"/>
                </a:solidFill>
                <a:latin typeface="Calibri"/>
                <a:ea typeface="Calibri"/>
                <a:cs typeface="Calibri"/>
                <a:sym typeface="Calibri"/>
              </a:rPr>
              <a:t>Hint 1 – First Wrong Attempt</a:t>
            </a:r>
            <a:endParaRPr/>
          </a:p>
          <a:p>
            <a:pPr indent="0" lvl="0" marL="0" marR="0" rtl="0" algn="l">
              <a:spcBef>
                <a:spcPts val="252"/>
              </a:spcBef>
              <a:spcAft>
                <a:spcPts val="0"/>
              </a:spcAft>
              <a:buNone/>
            </a:pPr>
            <a:r>
              <a:rPr lang="en-US" sz="1400">
                <a:solidFill>
                  <a:srgbClr val="1B2A44"/>
                </a:solidFill>
                <a:latin typeface="Calibri"/>
                <a:ea typeface="Calibri"/>
                <a:cs typeface="Calibri"/>
                <a:sym typeface="Calibri"/>
              </a:rPr>
              <a:t>If the child taps a wrong letter:</a:t>
            </a:r>
            <a:endParaRPr/>
          </a:p>
          <a:p>
            <a:pPr indent="0" lvl="0" marL="0" marR="0" rtl="0" algn="l">
              <a:spcBef>
                <a:spcPts val="252"/>
              </a:spcBef>
              <a:spcAft>
                <a:spcPts val="0"/>
              </a:spcAft>
              <a:buNone/>
            </a:pPr>
            <a:r>
              <a:rPr lang="en-US" sz="1400">
                <a:solidFill>
                  <a:srgbClr val="1B2A44"/>
                </a:solidFill>
                <a:latin typeface="Calibri"/>
                <a:ea typeface="Calibri"/>
                <a:cs typeface="Calibri"/>
                <a:sym typeface="Calibri"/>
              </a:rPr>
              <a:t>The selected card should get a brief red highlight.</a:t>
            </a:r>
            <a:endParaRPr/>
          </a:p>
          <a:p>
            <a:pPr indent="0" lvl="0" marL="0" marR="0" rtl="0" algn="l">
              <a:spcBef>
                <a:spcPts val="252"/>
              </a:spcBef>
              <a:spcAft>
                <a:spcPts val="0"/>
              </a:spcAft>
              <a:buNone/>
            </a:pPr>
            <a:r>
              <a:rPr lang="en-US" sz="1400">
                <a:solidFill>
                  <a:srgbClr val="1B2A44"/>
                </a:solidFill>
                <a:latin typeface="Calibri"/>
                <a:ea typeface="Calibri"/>
                <a:cs typeface="Calibri"/>
                <a:sym typeface="Calibri"/>
              </a:rPr>
              <a:t>Add a gentle shake animation.</a:t>
            </a:r>
            <a:endParaRPr/>
          </a:p>
          <a:p>
            <a:pPr indent="0" lvl="0" marL="0" marR="0" rtl="0" algn="l">
              <a:spcBef>
                <a:spcPts val="252"/>
              </a:spcBef>
              <a:spcAft>
                <a:spcPts val="0"/>
              </a:spcAft>
              <a:buNone/>
            </a:pPr>
            <a:r>
              <a:rPr lang="en-US" sz="1400">
                <a:solidFill>
                  <a:srgbClr val="1B2A44"/>
                </a:solidFill>
                <a:latin typeface="Calibri"/>
                <a:ea typeface="Calibri"/>
                <a:cs typeface="Calibri"/>
                <a:sym typeface="Calibri"/>
              </a:rPr>
              <a:t>VO:</a:t>
            </a:r>
            <a:endParaRPr/>
          </a:p>
          <a:p>
            <a:pPr indent="0" lvl="0" marL="0" marR="0" rtl="0" algn="l">
              <a:spcBef>
                <a:spcPts val="252"/>
              </a:spcBef>
              <a:spcAft>
                <a:spcPts val="0"/>
              </a:spcAft>
              <a:buNone/>
            </a:pPr>
            <a:r>
              <a:rPr lang="en-US" sz="1400">
                <a:solidFill>
                  <a:srgbClr val="1B2A44"/>
                </a:solidFill>
                <a:latin typeface="Calibri"/>
                <a:ea typeface="Calibri"/>
                <a:cs typeface="Calibri"/>
                <a:sym typeface="Calibri"/>
              </a:rPr>
              <a:t>“यह ‘च’ की आवाज़ नहीं है।”</a:t>
            </a:r>
            <a:endParaRPr/>
          </a:p>
          <a:p>
            <a:pPr indent="0" lvl="0" marL="0" marR="0" rtl="0" algn="l">
              <a:spcBef>
                <a:spcPts val="252"/>
              </a:spcBef>
              <a:spcAft>
                <a:spcPts val="0"/>
              </a:spcAft>
              <a:buNone/>
            </a:pPr>
            <a:r>
              <a:rPr lang="en-US" sz="1400">
                <a:solidFill>
                  <a:srgbClr val="1B2A44"/>
                </a:solidFill>
                <a:latin typeface="Calibri"/>
                <a:ea typeface="Calibri"/>
                <a:cs typeface="Calibri"/>
                <a:sym typeface="Calibri"/>
              </a:rPr>
              <a:t>Then allow the child to try again.</a:t>
            </a:r>
            <a:endParaRPr/>
          </a:p>
          <a:p>
            <a:pPr indent="0" lvl="0" marL="0" marR="0" rtl="0" algn="l">
              <a:spcBef>
                <a:spcPts val="882"/>
              </a:spcBef>
              <a:spcAft>
                <a:spcPts val="0"/>
              </a:spcAft>
              <a:buNone/>
            </a:pPr>
            <a:r>
              <a:rPr b="1" lang="en-US" sz="1400">
                <a:solidFill>
                  <a:srgbClr val="0B3D8C"/>
                </a:solidFill>
                <a:latin typeface="Calibri"/>
                <a:ea typeface="Calibri"/>
                <a:cs typeface="Calibri"/>
                <a:sym typeface="Calibri"/>
              </a:rPr>
              <a:t>Hint 2 – Second Wrong Attempt</a:t>
            </a:r>
            <a:endParaRPr/>
          </a:p>
          <a:p>
            <a:pPr indent="0" lvl="0" marL="0" marR="0" rtl="0" algn="l">
              <a:spcBef>
                <a:spcPts val="252"/>
              </a:spcBef>
              <a:spcAft>
                <a:spcPts val="0"/>
              </a:spcAft>
              <a:buNone/>
            </a:pPr>
            <a:r>
              <a:rPr lang="en-US" sz="1400">
                <a:solidFill>
                  <a:srgbClr val="1B2A44"/>
                </a:solidFill>
                <a:latin typeface="Calibri"/>
                <a:ea typeface="Calibri"/>
                <a:cs typeface="Calibri"/>
                <a:sym typeface="Calibri"/>
              </a:rPr>
              <a:t>If the child selects a wrong option again:</a:t>
            </a:r>
            <a:endParaRPr/>
          </a:p>
          <a:p>
            <a:pPr indent="0" lvl="0" marL="0" marR="0" rtl="0" algn="l">
              <a:spcBef>
                <a:spcPts val="252"/>
              </a:spcBef>
              <a:spcAft>
                <a:spcPts val="0"/>
              </a:spcAft>
              <a:buNone/>
            </a:pPr>
            <a:r>
              <a:rPr lang="en-US" sz="1400">
                <a:solidFill>
                  <a:srgbClr val="1B2A44"/>
                </a:solidFill>
                <a:latin typeface="Calibri"/>
                <a:ea typeface="Calibri"/>
                <a:cs typeface="Calibri"/>
                <a:sym typeface="Calibri"/>
              </a:rPr>
              <a:t>Show a hand nudge on the correct option ‘च’.</a:t>
            </a:r>
            <a:endParaRPr/>
          </a:p>
          <a:p>
            <a:pPr indent="0" lvl="0" marL="0" marR="0" rtl="0" algn="l">
              <a:spcBef>
                <a:spcPts val="252"/>
              </a:spcBef>
              <a:spcAft>
                <a:spcPts val="0"/>
              </a:spcAft>
              <a:buNone/>
            </a:pPr>
            <a:r>
              <a:rPr lang="en-US" sz="1400">
                <a:solidFill>
                  <a:srgbClr val="1B2A44"/>
                </a:solidFill>
                <a:latin typeface="Calibri"/>
                <a:ea typeface="Calibri"/>
                <a:cs typeface="Calibri"/>
                <a:sym typeface="Calibri"/>
              </a:rPr>
              <a:t>The hand should gently pulse/tap on the correct card.</a:t>
            </a:r>
            <a:endParaRPr/>
          </a:p>
          <a:p>
            <a:pPr indent="0" lvl="0" marL="0" marR="0" rtl="0" algn="l">
              <a:spcBef>
                <a:spcPts val="252"/>
              </a:spcBef>
              <a:spcAft>
                <a:spcPts val="0"/>
              </a:spcAft>
              <a:buNone/>
            </a:pPr>
            <a:r>
              <a:rPr lang="en-US" sz="1400">
                <a:solidFill>
                  <a:srgbClr val="1B2A44"/>
                </a:solidFill>
                <a:latin typeface="Calibri"/>
                <a:ea typeface="Calibri"/>
                <a:cs typeface="Calibri"/>
                <a:sym typeface="Calibri"/>
              </a:rPr>
              <a:t>VO on 2nd wrong attempt:</a:t>
            </a:r>
            <a:endParaRPr/>
          </a:p>
          <a:p>
            <a:pPr indent="0" lvl="0" marL="0" marR="0" rtl="0" algn="l">
              <a:spcBef>
                <a:spcPts val="252"/>
              </a:spcBef>
              <a:spcAft>
                <a:spcPts val="0"/>
              </a:spcAft>
              <a:buNone/>
            </a:pPr>
            <a:r>
              <a:rPr lang="en-US" sz="1400">
                <a:solidFill>
                  <a:srgbClr val="1B2A44"/>
                </a:solidFill>
                <a:latin typeface="Calibri"/>
                <a:ea typeface="Calibri"/>
                <a:cs typeface="Calibri"/>
                <a:sym typeface="Calibri"/>
              </a:rPr>
              <a:t>“ध्यान से देखो, सही जवाब ‘च’ है।”</a:t>
            </a:r>
            <a:endParaRPr/>
          </a:p>
          <a:p>
            <a:pPr indent="0" lvl="0" marL="0" marR="0" rtl="0" algn="l">
              <a:spcBef>
                <a:spcPts val="252"/>
              </a:spcBef>
              <a:spcAft>
                <a:spcPts val="0"/>
              </a:spcAft>
              <a:buNone/>
            </a:pPr>
            <a:r>
              <a:rPr lang="en-US" sz="1400">
                <a:solidFill>
                  <a:srgbClr val="1B2A44"/>
                </a:solidFill>
                <a:latin typeface="Calibri"/>
                <a:ea typeface="Calibri"/>
                <a:cs typeface="Calibri"/>
                <a:sym typeface="Calibri"/>
              </a:rPr>
              <a:t>Do not auto-select the answer.</a:t>
            </a:r>
            <a:endParaRPr/>
          </a:p>
          <a:p>
            <a:pPr indent="0" lvl="0" marL="0" marR="0" rtl="0" algn="l">
              <a:spcBef>
                <a:spcPts val="252"/>
              </a:spcBef>
              <a:spcAft>
                <a:spcPts val="0"/>
              </a:spcAft>
              <a:buNone/>
            </a:pPr>
            <a:r>
              <a:rPr lang="en-US" sz="1400">
                <a:solidFill>
                  <a:srgbClr val="1B2A44"/>
                </a:solidFill>
                <a:latin typeface="Calibri"/>
                <a:ea typeface="Calibri"/>
                <a:cs typeface="Calibri"/>
                <a:sym typeface="Calibri"/>
              </a:rPr>
              <a:t>The child should still tap ‘च’ independently.</a:t>
            </a:r>
            <a:endParaRPr/>
          </a:p>
          <a:p>
            <a:pPr indent="0" lvl="0" marL="0" marR="0" rtl="0" algn="l">
              <a:spcBef>
                <a:spcPts val="1022"/>
              </a:spcBef>
              <a:spcAft>
                <a:spcPts val="0"/>
              </a:spcAft>
              <a:buNone/>
            </a:pPr>
            <a:r>
              <a:rPr b="1" lang="en-US" sz="1400">
                <a:solidFill>
                  <a:srgbClr val="0B3D8C"/>
                </a:solidFill>
                <a:latin typeface="Calibri"/>
                <a:ea typeface="Calibri"/>
                <a:cs typeface="Calibri"/>
                <a:sym typeface="Calibri"/>
              </a:rPr>
              <a:t>4. Correct Answer Reinforcement</a:t>
            </a:r>
            <a:endParaRPr/>
          </a:p>
          <a:p>
            <a:pPr indent="0" lvl="0" marL="0" marR="0" rtl="0" algn="l">
              <a:spcBef>
                <a:spcPts val="252"/>
              </a:spcBef>
              <a:spcAft>
                <a:spcPts val="0"/>
              </a:spcAft>
              <a:buNone/>
            </a:pPr>
            <a:r>
              <a:rPr lang="en-US" sz="1400">
                <a:solidFill>
                  <a:srgbClr val="1B2A44"/>
                </a:solidFill>
                <a:latin typeface="Calibri"/>
                <a:ea typeface="Calibri"/>
                <a:cs typeface="Calibri"/>
                <a:sym typeface="Calibri"/>
              </a:rPr>
              <a:t>Once the child taps ‘च’, play the explanation VO:</a:t>
            </a:r>
            <a:endParaRPr/>
          </a:p>
          <a:p>
            <a:pPr indent="0" lvl="0" marL="0" marR="0" rtl="0" algn="l">
              <a:spcBef>
                <a:spcPts val="252"/>
              </a:spcBef>
              <a:spcAft>
                <a:spcPts val="0"/>
              </a:spcAft>
              <a:buNone/>
            </a:pPr>
            <a:r>
              <a:rPr lang="en-US" sz="1400">
                <a:solidFill>
                  <a:srgbClr val="1B2A44"/>
                </a:solidFill>
                <a:latin typeface="Calibri"/>
                <a:ea typeface="Calibri"/>
                <a:cs typeface="Calibri"/>
                <a:sym typeface="Calibri"/>
              </a:rPr>
              <a:t>“चूहे, चार, चने, चबाए — इन सब शब्दों में ‘च’ की आवाज़ बार-बार आई।”</a:t>
            </a:r>
            <a:endParaRPr/>
          </a:p>
          <a:p>
            <a:pPr indent="0" lvl="0" marL="0" marR="0" rtl="0" algn="l">
              <a:spcBef>
                <a:spcPts val="882"/>
              </a:spcBef>
              <a:spcAft>
                <a:spcPts val="0"/>
              </a:spcAft>
              <a:buNone/>
            </a:pPr>
            <a:r>
              <a:rPr b="1" lang="en-US" sz="1400">
                <a:solidFill>
                  <a:srgbClr val="0B3D8C"/>
                </a:solidFill>
                <a:latin typeface="Calibri"/>
                <a:ea typeface="Calibri"/>
                <a:cs typeface="Calibri"/>
                <a:sym typeface="Calibri"/>
              </a:rPr>
              <a:t>Recommended Flow</a:t>
            </a:r>
            <a:endParaRPr/>
          </a:p>
          <a:p>
            <a:pPr indent="0" lvl="0" marL="0" marR="0" rtl="0" algn="l">
              <a:spcBef>
                <a:spcPts val="252"/>
              </a:spcBef>
              <a:spcAft>
                <a:spcPts val="0"/>
              </a:spcAft>
              <a:buNone/>
            </a:pPr>
            <a:r>
              <a:rPr lang="en-US" sz="1400">
                <a:solidFill>
                  <a:srgbClr val="1B2A44"/>
                </a:solidFill>
                <a:latin typeface="Calibri"/>
                <a:ea typeface="Calibri"/>
                <a:cs typeface="Calibri"/>
                <a:sym typeface="Calibri"/>
              </a:rPr>
              <a:t>Instruction text + VO → sentence VO → ‘च’ appears with sound → ‘ल’ appears with sound → ‘र’ appears with sound → child selects → Hint 1 on first wrong attempt → Hint 2 + hand nudge on second wrong attempt → child taps ‘च’ → explanation VO.</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1"/>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Page 12 · 12_SORT_VACHAN.png</a:t>
            </a:r>
            <a:endParaRPr/>
          </a:p>
        </p:txBody>
      </p:sp>
      <p:pic>
        <p:nvPicPr>
          <p:cNvPr descr="12_SORT_VACHAN.png" id="214" name="Google Shape;214;p21"/>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2"/>
          <p:cNvSpPr txBox="1"/>
          <p:nvPr/>
        </p:nvSpPr>
        <p:spPr>
          <a:xfrm>
            <a:off x="365760" y="137160"/>
            <a:ext cx="1146048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B3D8C"/>
                </a:solidFill>
                <a:latin typeface="Calibri"/>
                <a:ea typeface="Calibri"/>
                <a:cs typeface="Calibri"/>
                <a:sym typeface="Calibri"/>
              </a:rPr>
              <a:t>Recommendations — Page 12 · 12_SORT_VACHAN.png</a:t>
            </a:r>
            <a:endParaRPr/>
          </a:p>
        </p:txBody>
      </p:sp>
      <p:sp>
        <p:nvSpPr>
          <p:cNvPr id="220" name="Google Shape;220;p22"/>
          <p:cNvSpPr txBox="1"/>
          <p:nvPr/>
        </p:nvSpPr>
        <p:spPr>
          <a:xfrm>
            <a:off x="365760" y="792480"/>
            <a:ext cx="11460480" cy="5486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00">
                <a:solidFill>
                  <a:srgbClr val="0B3D8C"/>
                </a:solidFill>
                <a:latin typeface="Calibri"/>
                <a:ea typeface="Calibri"/>
                <a:cs typeface="Calibri"/>
                <a:sym typeface="Calibri"/>
              </a:rPr>
              <a:t>1. Change the Two Categories</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Replace the current categories:</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“प की आवाज़ आती है”</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“प की आवाज़ नहीं आती”</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with:</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“प की आवाज़ वाला”</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“च की आवाज़ वाला”</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This will make the activity easier and more concrete for Grade 2 FLN learners.</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2. Interaction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The child will drag each picture and drop it into the correct category.</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Keep the current drag-and-drop interaction.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Use clear, familiar image options whose names begin with or clearly contain either “प” or “च”.</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Keep the number of options limited so the screen remains easy to process.</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3. Instruction Text + VO</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Keep the instruction at the top.</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“हर चित्र का नाम सुनो और उसे सही टोकरी में डालो।”</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The same line should also play through VO.</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4. Audio Support</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When the child taps or picks up an image, play its name through VO.</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This will help the child identify whether the word has the “प” sound or the “च” sound before dragging it.</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5. Drop Behaviour</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If the picture is dropped into the correct category, it should settle into the box with a small positive animation.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If the picture is dropped into the wrong category, it should gently shake and return to its original position.</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6. Hint Logic</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Keep the existing hint logic exactly as it is currently implemented.</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No change is required in the current hint progression or behaviour.</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3"/>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Page 13 · 13_TAP_ALL_WITH_SOUND.png</a:t>
            </a:r>
            <a:endParaRPr/>
          </a:p>
        </p:txBody>
      </p:sp>
      <p:pic>
        <p:nvPicPr>
          <p:cNvPr descr="13_TAP_ALL_WITH_SOUND.png" id="226" name="Google Shape;226;p23"/>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4"/>
          <p:cNvSpPr txBox="1"/>
          <p:nvPr/>
        </p:nvSpPr>
        <p:spPr>
          <a:xfrm>
            <a:off x="365760" y="137160"/>
            <a:ext cx="1146048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B3D8C"/>
                </a:solidFill>
                <a:latin typeface="Calibri"/>
                <a:ea typeface="Calibri"/>
                <a:cs typeface="Calibri"/>
                <a:sym typeface="Calibri"/>
              </a:rPr>
              <a:t>Recommendations — Page 13 · 13_TAP_ALL_WITH_SOUND.png</a:t>
            </a:r>
            <a:endParaRPr/>
          </a:p>
        </p:txBody>
      </p:sp>
      <p:sp>
        <p:nvSpPr>
          <p:cNvPr id="232" name="Google Shape;232;p24"/>
          <p:cNvSpPr txBox="1"/>
          <p:nvPr/>
        </p:nvSpPr>
        <p:spPr>
          <a:xfrm>
            <a:off x="365760" y="792480"/>
            <a:ext cx="11460480" cy="5486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00">
                <a:solidFill>
                  <a:srgbClr val="0B3D8C"/>
                </a:solidFill>
                <a:latin typeface="Calibri"/>
                <a:ea typeface="Calibri"/>
                <a:cs typeface="Calibri"/>
                <a:sym typeface="Calibri"/>
              </a:rPr>
              <a:t>1. Keep Only 4 Image Options</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Show only 4 image options on the screen.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Keep:</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2 correct options with the “म” sound</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2 incorrect options without the “म” sound</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This will keep the activity simple and less crowded for Grade 2 FLN learners.</a:t>
            </a:r>
            <a:endParaRPr/>
          </a:p>
          <a:p>
            <a:pPr indent="0" lvl="0" marL="0" marR="0" rtl="0" algn="l">
              <a:spcBef>
                <a:spcPts val="945"/>
              </a:spcBef>
              <a:spcAft>
                <a:spcPts val="0"/>
              </a:spcAft>
              <a:buNone/>
            </a:pPr>
            <a:r>
              <a:rPr b="1" lang="en-US" sz="1500">
                <a:solidFill>
                  <a:srgbClr val="0B3D8C"/>
                </a:solidFill>
                <a:latin typeface="Calibri"/>
                <a:ea typeface="Calibri"/>
                <a:cs typeface="Calibri"/>
                <a:sym typeface="Calibri"/>
              </a:rPr>
              <a:t>Suggested options:</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Correct: मामा, मूली</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Incorrect: चींटी, लाल</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2. Instruction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Keep the current instruction at the top:</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“जिन शब्दों में ‘म’ की आवाज़ सुनाई दे, उन पर टैप करो।”</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The same instruction should also come through VO.</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3. Interaction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The child taps the images whose names contain the “म” sound.</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On tapping an option, play the object/word name through VO.</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Correct selected cards should remain selected and should not be tappable again.</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4. Hint Logic</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Keep the same hint logic as already implemented in the previous activity.</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No change is required in the existing hint progression.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Wrong selection should follow the same shake/red feedback behaviour.</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Hand nudge behaviour should also remain the same as the previous activity.</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5. Image Recommendation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Replace the current “माला” image if it is visually unclear.</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5"/>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Page 16 · 16_SENTENCE_SOUND.png</a:t>
            </a:r>
            <a:endParaRPr/>
          </a:p>
        </p:txBody>
      </p:sp>
      <p:pic>
        <p:nvPicPr>
          <p:cNvPr descr="16_SENTENCE_SOUND.png" id="238" name="Google Shape;238;p25"/>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6"/>
          <p:cNvSpPr txBox="1"/>
          <p:nvPr/>
        </p:nvSpPr>
        <p:spPr>
          <a:xfrm>
            <a:off x="365760" y="137160"/>
            <a:ext cx="1146048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B3D8C"/>
                </a:solidFill>
                <a:latin typeface="Calibri"/>
                <a:ea typeface="Calibri"/>
                <a:cs typeface="Calibri"/>
                <a:sym typeface="Calibri"/>
              </a:rPr>
              <a:t>Recommendations — Page 16 · 16_SENTENCE_SOUND.png</a:t>
            </a:r>
            <a:endParaRPr/>
          </a:p>
        </p:txBody>
      </p:sp>
      <p:sp>
        <p:nvSpPr>
          <p:cNvPr id="244" name="Google Shape;244;p26"/>
          <p:cNvSpPr txBox="1"/>
          <p:nvPr/>
        </p:nvSpPr>
        <p:spPr>
          <a:xfrm>
            <a:off x="365760" y="792480"/>
            <a:ext cx="11460480" cy="5486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00">
                <a:solidFill>
                  <a:srgbClr val="0B3D8C"/>
                </a:solidFill>
                <a:latin typeface="Calibri"/>
                <a:ea typeface="Calibri"/>
                <a:cs typeface="Calibri"/>
                <a:sym typeface="Calibri"/>
              </a:rPr>
              <a:t>1. Use a New Sentence to Check Understanding</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Use the sentence:</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“नानी नई नाव लाई।”</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Target repeated sound: “न”</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2. Instruction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Keep the instruction at the top:</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“ध्यान से सुनो — कौन-सी आवाज़ शब्दों की शुरुआत में बार-बार आई?”</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The same instruction should also play through VO.</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3. Sentence Presentation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Play the complete sentence through VO:</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“नानी नई नाव लाई।”</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Keep the sentence visible on screen.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No word-by-word highlighting is required.</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4. Letter Options</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Show 3 large letter options: with vo one by one comes</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म, ल,  न</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Letters should appear one by one.</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As each letter appears, play its corresponding sound/VO.</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Keep a short pause between each letter.</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Once all three letters are visible, enable selection.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Correct answer: “न”</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5. Hint Logic</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Keep the existing hint logic exactly the same as currently implemented.</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7"/>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Page 19 · 19_TAP_ALL_WITH_SOUND.png</a:t>
            </a:r>
            <a:endParaRPr/>
          </a:p>
        </p:txBody>
      </p:sp>
      <p:pic>
        <p:nvPicPr>
          <p:cNvPr descr="19_TAP_ALL_WITH_SOUND.png" id="250" name="Google Shape;250;p27"/>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8"/>
          <p:cNvSpPr txBox="1"/>
          <p:nvPr/>
        </p:nvSpPr>
        <p:spPr>
          <a:xfrm>
            <a:off x="365760" y="137160"/>
            <a:ext cx="1146048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B3D8C"/>
                </a:solidFill>
                <a:latin typeface="Calibri"/>
                <a:ea typeface="Calibri"/>
                <a:cs typeface="Calibri"/>
                <a:sym typeface="Calibri"/>
              </a:rPr>
              <a:t>Recommendations — Page 19 · 19_TAP_ALL_WITH_SOUND.png</a:t>
            </a:r>
            <a:endParaRPr/>
          </a:p>
        </p:txBody>
      </p:sp>
      <p:sp>
        <p:nvSpPr>
          <p:cNvPr id="256" name="Google Shape;256;p28"/>
          <p:cNvSpPr txBox="1"/>
          <p:nvPr/>
        </p:nvSpPr>
        <p:spPr>
          <a:xfrm>
            <a:off x="365760" y="792480"/>
            <a:ext cx="11460480" cy="5486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00">
                <a:solidFill>
                  <a:srgbClr val="0B3D8C"/>
                </a:solidFill>
                <a:latin typeface="Calibri"/>
                <a:ea typeface="Calibri"/>
                <a:cs typeface="Calibri"/>
                <a:sym typeface="Calibri"/>
              </a:rPr>
              <a:t>1. Keep Only 4 Image Options</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Reduce the current 5 options to 4 image options only.</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Keep:</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2 correct options containing the “च” sound</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2 incorrect options without the “च” sound</a:t>
            </a:r>
            <a:endParaRPr/>
          </a:p>
          <a:p>
            <a:pPr indent="0" lvl="0" marL="0" marR="0" rtl="0" algn="l">
              <a:spcBef>
                <a:spcPts val="945"/>
              </a:spcBef>
              <a:spcAft>
                <a:spcPts val="0"/>
              </a:spcAft>
              <a:buNone/>
            </a:pPr>
            <a:r>
              <a:rPr b="1" lang="en-US" sz="1500">
                <a:solidFill>
                  <a:srgbClr val="0B3D8C"/>
                </a:solidFill>
                <a:latin typeface="Calibri"/>
                <a:ea typeface="Calibri"/>
                <a:cs typeface="Calibri"/>
                <a:sym typeface="Calibri"/>
              </a:rPr>
              <a:t>Suggested Options:</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Correct: चाँद, चींटी</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Incorrect: माला, लाल</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2. Instruction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Keep the current instruction at the top:</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“जिन शब्दों में ‘च’ की आवाज़ सुनाई दे, उन पर टैप करो।”</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The same instruction should also play through VO.</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3. Interaction</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The child taps the images whose names contain the “च” sound.</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When an image is tapped, play its word name through VO.</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Correct selected options should remain selected and should not be tappable again.</a:t>
            </a:r>
            <a:endParaRPr/>
          </a:p>
          <a:p>
            <a:pPr indent="0" lvl="0" marL="0" marR="0" rtl="0" algn="l">
              <a:spcBef>
                <a:spcPts val="1095"/>
              </a:spcBef>
              <a:spcAft>
                <a:spcPts val="0"/>
              </a:spcAft>
              <a:buNone/>
            </a:pPr>
            <a:r>
              <a:rPr b="1" lang="en-US" sz="1500">
                <a:solidFill>
                  <a:srgbClr val="0B3D8C"/>
                </a:solidFill>
                <a:latin typeface="Calibri"/>
                <a:ea typeface="Calibri"/>
                <a:cs typeface="Calibri"/>
                <a:sym typeface="Calibri"/>
              </a:rPr>
              <a:t>4. Hint Logic</a:t>
            </a:r>
            <a:endParaRPr/>
          </a:p>
          <a:p>
            <a:pPr indent="0" lvl="0" marL="0" marR="0" rtl="0" algn="l">
              <a:spcBef>
                <a:spcPts val="270"/>
              </a:spcBef>
              <a:spcAft>
                <a:spcPts val="0"/>
              </a:spcAft>
              <a:buNone/>
            </a:pPr>
            <a:r>
              <a:rPr lang="en-US" sz="1500">
                <a:solidFill>
                  <a:srgbClr val="1B2A44"/>
                </a:solidFill>
                <a:latin typeface="Calibri"/>
                <a:ea typeface="Calibri"/>
                <a:cs typeface="Calibri"/>
                <a:sym typeface="Calibri"/>
              </a:rPr>
              <a:t>Keep the existing hint logic exactly the same as currently implemented.</a:t>
            </a:r>
            <a:endParaRPr/>
          </a:p>
          <a:p>
            <a:pPr indent="0" lvl="0" marL="0" marR="0" rtl="0" algn="l">
              <a:spcBef>
                <a:spcPts val="945"/>
              </a:spcBef>
              <a:spcAft>
                <a:spcPts val="0"/>
              </a:spcAft>
              <a:buNone/>
            </a:pPr>
            <a:r>
              <a:rPr b="1" lang="en-US" sz="1500">
                <a:solidFill>
                  <a:srgbClr val="0B3D8C"/>
                </a:solidFill>
                <a:latin typeface="Calibri"/>
                <a:ea typeface="Calibri"/>
                <a:cs typeface="Calibri"/>
                <a:sym typeface="Calibri"/>
              </a:rPr>
              <a:t>— Previous round note —</a:t>
            </a:r>
            <a:endParaRPr/>
          </a:p>
          <a:p>
            <a:pPr indent="0" lvl="0" marL="0" marR="0" rtl="0" algn="l">
              <a:spcBef>
                <a:spcPts val="270"/>
              </a:spcBef>
              <a:spcAft>
                <a:spcPts val="0"/>
              </a:spcAft>
              <a:buNone/>
            </a:pPr>
            <a:r>
              <a:rPr i="1" lang="en-US" sz="1500">
                <a:solidFill>
                  <a:srgbClr val="5A6780"/>
                </a:solidFill>
                <a:latin typeface="Calibri"/>
                <a:ea typeface="Calibri"/>
                <a:cs typeface="Calibri"/>
                <a:sym typeface="Calibri"/>
              </a:rPr>
              <a:t>• PRACTICE 7 — the final item: च at the start (चंदा, चींटा) and mid-word (अचार) in one set, with two distractors. Targets and distractors are interleaved on every tap-all page, so tapping the first three or assuming the last one is right both fail.</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9"/>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Page 8 · 08_TAP_VACHAN.png</a:t>
            </a:r>
            <a:endParaRPr/>
          </a:p>
        </p:txBody>
      </p:sp>
      <p:pic>
        <p:nvPicPr>
          <p:cNvPr descr="08_TAP_VACHAN.png" id="263" name="Google Shape;263;p29"/>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pic>
        <p:nvPicPr>
          <p:cNvPr descr="A group of balloons with images of various fruits&#10;&#10;Description automatically generated" id="264" name="Google Shape;264;p29"/>
          <p:cNvPicPr preferRelativeResize="0"/>
          <p:nvPr/>
        </p:nvPicPr>
        <p:blipFill rotWithShape="1">
          <a:blip r:embed="rId4">
            <a:alphaModFix/>
          </a:blip>
          <a:srcRect b="0" l="0" r="0" t="17316"/>
          <a:stretch/>
        </p:blipFill>
        <p:spPr>
          <a:xfrm>
            <a:off x="8200724" y="4373608"/>
            <a:ext cx="3781181" cy="175768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0"/>
          <p:cNvSpPr txBox="1"/>
          <p:nvPr/>
        </p:nvSpPr>
        <p:spPr>
          <a:xfrm>
            <a:off x="365760" y="137160"/>
            <a:ext cx="1146048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B3D8C"/>
                </a:solidFill>
                <a:latin typeface="Calibri"/>
                <a:ea typeface="Calibri"/>
                <a:cs typeface="Calibri"/>
                <a:sym typeface="Calibri"/>
              </a:rPr>
              <a:t>Recommendations — Page 8 · 08_TAP_VACHAN.png</a:t>
            </a:r>
            <a:endParaRPr/>
          </a:p>
        </p:txBody>
      </p:sp>
      <p:sp>
        <p:nvSpPr>
          <p:cNvPr id="270" name="Google Shape;270;p30"/>
          <p:cNvSpPr txBox="1"/>
          <p:nvPr/>
        </p:nvSpPr>
        <p:spPr>
          <a:xfrm>
            <a:off x="365760" y="792480"/>
            <a:ext cx="11460480" cy="5486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rgbClr val="0B3D8C"/>
                </a:solidFill>
                <a:latin typeface="Calibri"/>
                <a:ea typeface="Calibri"/>
                <a:cs typeface="Calibri"/>
                <a:sym typeface="Calibri"/>
              </a:rPr>
              <a:t>1. Replace the Current Activity</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Remove the existing हाँ/नहीं activity and replace it with an interactive balloon-based activity for identifying the “प” sound.</a:t>
            </a:r>
            <a:endParaRPr/>
          </a:p>
          <a:p>
            <a:pPr indent="0" lvl="0" marL="0" marR="0" rtl="0" algn="l">
              <a:spcBef>
                <a:spcPts val="876"/>
              </a:spcBef>
              <a:spcAft>
                <a:spcPts val="0"/>
              </a:spcAft>
              <a:buNone/>
            </a:pPr>
            <a:r>
              <a:rPr b="1" lang="en-US" sz="1200">
                <a:solidFill>
                  <a:srgbClr val="0B3D8C"/>
                </a:solidFill>
                <a:latin typeface="Calibri"/>
                <a:ea typeface="Calibri"/>
                <a:cs typeface="Calibri"/>
                <a:sym typeface="Calibri"/>
              </a:rPr>
              <a:t>2. Keep the Screen Clean</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Do not show any written instruction on the screen.</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Do not show feedback text on the screen.</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Keep the screen visually clean like the reference image.</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Only the mascot, balloons, object images, and required animations should be visible.</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All instructions, hints, and feedback should come through VO only.</a:t>
            </a:r>
            <a:endParaRPr/>
          </a:p>
          <a:p>
            <a:pPr indent="0" lvl="0" marL="0" marR="0" rtl="0" algn="l">
              <a:spcBef>
                <a:spcPts val="876"/>
              </a:spcBef>
              <a:spcAft>
                <a:spcPts val="0"/>
              </a:spcAft>
              <a:buNone/>
            </a:pPr>
            <a:r>
              <a:rPr b="1" lang="en-US" sz="1200">
                <a:solidFill>
                  <a:srgbClr val="0B3D8C"/>
                </a:solidFill>
                <a:latin typeface="Calibri"/>
                <a:ea typeface="Calibri"/>
                <a:cs typeface="Calibri"/>
                <a:sym typeface="Calibri"/>
              </a:rPr>
              <a:t>3. Instruction through VO only</a:t>
            </a:r>
            <a:endParaRPr/>
          </a:p>
          <a:p>
            <a:pPr indent="0" lvl="0" marL="0" marR="0" rtl="0" algn="l">
              <a:spcBef>
                <a:spcPts val="756"/>
              </a:spcBef>
              <a:spcAft>
                <a:spcPts val="0"/>
              </a:spcAft>
              <a:buNone/>
            </a:pPr>
            <a:r>
              <a:rPr b="1" lang="en-US" sz="1200">
                <a:solidFill>
                  <a:srgbClr val="0B3D8C"/>
                </a:solidFill>
                <a:latin typeface="Calibri"/>
                <a:ea typeface="Calibri"/>
                <a:cs typeface="Calibri"/>
                <a:sym typeface="Calibri"/>
              </a:rPr>
              <a:t>Use VO:</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“‘प’ की आवाज़ वाले चित्र पर टैप कीजिए।”</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No instruction text should appear on screen.</a:t>
            </a:r>
            <a:endParaRPr/>
          </a:p>
          <a:p>
            <a:pPr indent="0" lvl="0" marL="0" marR="0" rtl="0" algn="l">
              <a:spcBef>
                <a:spcPts val="876"/>
              </a:spcBef>
              <a:spcAft>
                <a:spcPts val="0"/>
              </a:spcAft>
              <a:buNone/>
            </a:pPr>
            <a:r>
              <a:rPr b="1" lang="en-US" sz="1200">
                <a:solidFill>
                  <a:srgbClr val="0B3D8C"/>
                </a:solidFill>
                <a:latin typeface="Calibri"/>
                <a:ea typeface="Calibri"/>
                <a:cs typeface="Calibri"/>
                <a:sym typeface="Calibri"/>
              </a:rPr>
              <a:t>4. Activity Layout</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Show multiple balloons with one clear object image inside each balloon.</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Do not add object names or any text inside the balloons.</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Maintain enough spacing between balloons for easy tapping.</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Keep the background soft, minimal, and distraction-free.</a:t>
            </a:r>
            <a:endParaRPr/>
          </a:p>
          <a:p>
            <a:pPr indent="0" lvl="0" marL="0" marR="0" rtl="0" algn="l">
              <a:spcBef>
                <a:spcPts val="876"/>
              </a:spcBef>
              <a:spcAft>
                <a:spcPts val="0"/>
              </a:spcAft>
              <a:buNone/>
            </a:pPr>
            <a:r>
              <a:rPr b="1" lang="en-US" sz="1200">
                <a:solidFill>
                  <a:srgbClr val="0B3D8C"/>
                </a:solidFill>
                <a:latin typeface="Calibri"/>
                <a:ea typeface="Calibri"/>
                <a:cs typeface="Calibri"/>
                <a:sym typeface="Calibri"/>
              </a:rPr>
              <a:t>5. Suggested Options</a:t>
            </a:r>
            <a:endParaRPr/>
          </a:p>
          <a:p>
            <a:pPr indent="0" lvl="0" marL="0" marR="0" rtl="0" algn="l">
              <a:spcBef>
                <a:spcPts val="756"/>
              </a:spcBef>
              <a:spcAft>
                <a:spcPts val="0"/>
              </a:spcAft>
              <a:buNone/>
            </a:pPr>
            <a:r>
              <a:rPr b="1" lang="en-US" sz="1200">
                <a:solidFill>
                  <a:srgbClr val="0B3D8C"/>
                </a:solidFill>
                <a:latin typeface="Calibri"/>
                <a:ea typeface="Calibri"/>
                <a:cs typeface="Calibri"/>
                <a:sym typeface="Calibri"/>
              </a:rPr>
              <a:t>Correct examples:</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पतंग, पपीता, पत्ता, पानी</a:t>
            </a:r>
            <a:endParaRPr/>
          </a:p>
          <a:p>
            <a:pPr indent="0" lvl="0" marL="0" marR="0" rtl="0" algn="l">
              <a:spcBef>
                <a:spcPts val="756"/>
              </a:spcBef>
              <a:spcAft>
                <a:spcPts val="0"/>
              </a:spcAft>
              <a:buNone/>
            </a:pPr>
            <a:r>
              <a:rPr b="1" lang="en-US" sz="1200">
                <a:solidFill>
                  <a:srgbClr val="0B3D8C"/>
                </a:solidFill>
                <a:latin typeface="Calibri"/>
                <a:ea typeface="Calibri"/>
                <a:cs typeface="Calibri"/>
                <a:sym typeface="Calibri"/>
              </a:rPr>
              <a:t>Incorrect examples:</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आम, केला, घर, मछली</a:t>
            </a:r>
            <a:endParaRPr/>
          </a:p>
          <a:p>
            <a:pPr indent="0" lvl="0" marL="0" marR="0" rtl="0" algn="l">
              <a:spcBef>
                <a:spcPts val="876"/>
              </a:spcBef>
              <a:spcAft>
                <a:spcPts val="0"/>
              </a:spcAft>
              <a:buNone/>
            </a:pPr>
            <a:r>
              <a:rPr b="1" lang="en-US" sz="1200">
                <a:solidFill>
                  <a:srgbClr val="0B3D8C"/>
                </a:solidFill>
                <a:latin typeface="Calibri"/>
                <a:ea typeface="Calibri"/>
                <a:cs typeface="Calibri"/>
                <a:sym typeface="Calibri"/>
              </a:rPr>
              <a:t>6. Interaction &amp; Feedback</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For a correct selection:</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Balloon bursts.</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Add a light sparkle/celebration animation.</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VO feedback:</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“शाबाश! इसमें ‘प’ की आवाज़ है।”</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For the first wrong attempt:</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Balloon gives a gentle shake.</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No text appears.</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Use a short negative feedback sound only.</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For the second wrong attempt:</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Balloon shakes again.</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VO hint:</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“ध्यान से सुनिए, इसमें ‘प’ की आवाज़ नहीं है।”</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If the learner continues to struggle, show a subtle hand nudge towards one correct balloon.</a:t>
            </a:r>
            <a:endParaRPr/>
          </a:p>
          <a:p>
            <a:pPr indent="0" lvl="0" marL="0" marR="0" rtl="0" algn="l">
              <a:spcBef>
                <a:spcPts val="876"/>
              </a:spcBef>
              <a:spcAft>
                <a:spcPts val="0"/>
              </a:spcAft>
              <a:buNone/>
            </a:pPr>
            <a:r>
              <a:rPr b="1" lang="en-US" sz="1200">
                <a:solidFill>
                  <a:srgbClr val="0B3D8C"/>
                </a:solidFill>
                <a:latin typeface="Calibri"/>
                <a:ea typeface="Calibri"/>
                <a:cs typeface="Calibri"/>
                <a:sym typeface="Calibri"/>
              </a:rPr>
              <a:t>7. Object Audio Reinforcement</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When the child taps a balloon, play the object name through VO.</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For correct options, naturally emphasise the initial “प” sound where appropriate.</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Avoid unnatural stretching of the sound.</a:t>
            </a:r>
            <a:endParaRPr/>
          </a:p>
          <a:p>
            <a:pPr indent="0" lvl="0" marL="0" marR="0" rtl="0" algn="l">
              <a:spcBef>
                <a:spcPts val="756"/>
              </a:spcBef>
              <a:spcAft>
                <a:spcPts val="0"/>
              </a:spcAft>
              <a:buNone/>
            </a:pPr>
            <a:r>
              <a:rPr b="1" lang="en-US" sz="1200">
                <a:solidFill>
                  <a:srgbClr val="0B3D8C"/>
                </a:solidFill>
                <a:latin typeface="Calibri"/>
                <a:ea typeface="Calibri"/>
                <a:cs typeface="Calibri"/>
                <a:sym typeface="Calibri"/>
              </a:rPr>
              <a:t>Recommended Activity Flow</a:t>
            </a:r>
            <a:endParaRPr/>
          </a:p>
          <a:p>
            <a:pPr indent="0" lvl="0" marL="0" marR="0" rtl="0" algn="l">
              <a:spcBef>
                <a:spcPts val="216"/>
              </a:spcBef>
              <a:spcAft>
                <a:spcPts val="0"/>
              </a:spcAft>
              <a:buNone/>
            </a:pPr>
            <a:r>
              <a:rPr lang="en-US" sz="1200">
                <a:solidFill>
                  <a:srgbClr val="1B2A44"/>
                </a:solidFill>
                <a:latin typeface="Calibri"/>
                <a:ea typeface="Calibri"/>
                <a:cs typeface="Calibri"/>
                <a:sym typeface="Calibri"/>
              </a:rPr>
              <a:t>Clean screen appears → VO gives instruction → balloons appear → child taps an image → object name plays → correct/wrong animation happens → VO feedback plays → activity continues until all correct “प” sound images are selected.</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1"/>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Page 20 · 20_CELEBRATION.png</a:t>
            </a:r>
            <a:endParaRPr/>
          </a:p>
        </p:txBody>
      </p:sp>
      <p:pic>
        <p:nvPicPr>
          <p:cNvPr descr="20_CELEBRATION.png" id="276" name="Google Shape;276;p31"/>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sp>
        <p:nvSpPr>
          <p:cNvPr id="277" name="Google Shape;277;p31"/>
          <p:cNvSpPr txBox="1"/>
          <p:nvPr/>
        </p:nvSpPr>
        <p:spPr>
          <a:xfrm>
            <a:off x="8229600" y="731520"/>
            <a:ext cx="3596335" cy="57607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rPr lang="en-US" sz="1300">
                <a:solidFill>
                  <a:srgbClr val="1B2A44"/>
                </a:solidFill>
                <a:latin typeface="Calibri"/>
                <a:ea typeface="Calibri"/>
                <a:cs typeface="Calibri"/>
                <a:sym typeface="Calibri"/>
              </a:rPr>
              <a:t>• CELEBRATION. ✅ NOW RECAPS, per your note: «आज हमने सीखा — वाक्य ध्यान से सुनना, बार-बार आने वाली आवाज़ पहचानना, और प, च और म की आवाज़ ढूँढना।» It names the skill, not just the three letters. No score, no timer, no stars shown to the child — house rule.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